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1" r:id="rId6"/>
    <p:sldId id="262" r:id="rId7"/>
    <p:sldId id="267" r:id="rId8"/>
    <p:sldId id="269" r:id="rId9"/>
    <p:sldId id="270" r:id="rId10"/>
    <p:sldId id="276" r:id="rId11"/>
    <p:sldId id="277" r:id="rId12"/>
    <p:sldId id="278" r:id="rId13"/>
    <p:sldId id="285" r:id="rId14"/>
    <p:sldId id="286" r:id="rId15"/>
    <p:sldId id="280" r:id="rId16"/>
    <p:sldId id="281" r:id="rId17"/>
    <p:sldId id="282" r:id="rId18"/>
    <p:sldId id="287" r:id="rId19"/>
    <p:sldId id="288" r:id="rId20"/>
    <p:sldId id="289" r:id="rId21"/>
    <p:sldId id="290" r:id="rId22"/>
    <p:sldId id="291" r:id="rId23"/>
    <p:sldId id="279" r:id="rId2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C84FF9F9-83FF-4686-BF48-736AEC0F4FC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1594" y="-2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564863b4a4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g1564863b4a4_0_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564863b4a4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1564863b4a4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1f83119d95b_0_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1f83119d95b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g1f83119d95b_0_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f83119d95b_0_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g1f83119d95b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g1f83119d95b_0_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f83119d95b_0_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1f83119d95b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g1f83119d95b_0_7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1e8b0b8a74a_0_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g1e8b0b8a74a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g1e8b0b8a74a_0_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1b8890723e1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g1b8890723e1_0_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c0653c3a5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g1c0653c3a5e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extLst>
      <p:ext uri="{BB962C8B-B14F-4D97-AF65-F5344CB8AC3E}">
        <p14:creationId xmlns:p14="http://schemas.microsoft.com/office/powerpoint/2010/main" val="216433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extLst>
      <p:ext uri="{BB962C8B-B14F-4D97-AF65-F5344CB8AC3E}">
        <p14:creationId xmlns:p14="http://schemas.microsoft.com/office/powerpoint/2010/main" val="3035384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extLst>
      <p:ext uri="{BB962C8B-B14F-4D97-AF65-F5344CB8AC3E}">
        <p14:creationId xmlns:p14="http://schemas.microsoft.com/office/powerpoint/2010/main" val="2734811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extLst>
      <p:ext uri="{BB962C8B-B14F-4D97-AF65-F5344CB8AC3E}">
        <p14:creationId xmlns:p14="http://schemas.microsoft.com/office/powerpoint/2010/main" val="23970639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extLst>
      <p:ext uri="{BB962C8B-B14F-4D97-AF65-F5344CB8AC3E}">
        <p14:creationId xmlns:p14="http://schemas.microsoft.com/office/powerpoint/2010/main" val="198217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D8E8AFF0-BFAD-6538-3B9A-B8B2A34969A1}"/>
            </a:ext>
          </a:extLst>
        </p:cNvPr>
        <p:cNvGrpSpPr/>
        <p:nvPr/>
      </p:nvGrpSpPr>
      <p:grpSpPr>
        <a:xfrm>
          <a:off x="0" y="0"/>
          <a:ext cx="0" cy="0"/>
          <a:chOff x="0" y="0"/>
          <a:chExt cx="0" cy="0"/>
        </a:xfrm>
      </p:grpSpPr>
      <p:sp>
        <p:nvSpPr>
          <p:cNvPr id="356" name="Google Shape;356;p21:notes">
            <a:extLst>
              <a:ext uri="{FF2B5EF4-FFF2-40B4-BE49-F238E27FC236}">
                <a16:creationId xmlns:a16="http://schemas.microsoft.com/office/drawing/2014/main" id="{0978EE50-0AB0-92CF-DB53-5DC14FECCD2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a:extLst>
              <a:ext uri="{FF2B5EF4-FFF2-40B4-BE49-F238E27FC236}">
                <a16:creationId xmlns:a16="http://schemas.microsoft.com/office/drawing/2014/main" id="{1BFB2153-14BB-0B95-0890-81B462D451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a:extLst>
              <a:ext uri="{FF2B5EF4-FFF2-40B4-BE49-F238E27FC236}">
                <a16:creationId xmlns:a16="http://schemas.microsoft.com/office/drawing/2014/main" id="{BEEA3A28-654E-F084-95A0-5A7D184A27E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extLst>
      <p:ext uri="{BB962C8B-B14F-4D97-AF65-F5344CB8AC3E}">
        <p14:creationId xmlns:p14="http://schemas.microsoft.com/office/powerpoint/2010/main" val="9231488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13E975BF-72C6-A317-4002-F341D090EC0E}"/>
            </a:ext>
          </a:extLst>
        </p:cNvPr>
        <p:cNvGrpSpPr/>
        <p:nvPr/>
      </p:nvGrpSpPr>
      <p:grpSpPr>
        <a:xfrm>
          <a:off x="0" y="0"/>
          <a:ext cx="0" cy="0"/>
          <a:chOff x="0" y="0"/>
          <a:chExt cx="0" cy="0"/>
        </a:xfrm>
      </p:grpSpPr>
      <p:sp>
        <p:nvSpPr>
          <p:cNvPr id="356" name="Google Shape;356;p21:notes">
            <a:extLst>
              <a:ext uri="{FF2B5EF4-FFF2-40B4-BE49-F238E27FC236}">
                <a16:creationId xmlns:a16="http://schemas.microsoft.com/office/drawing/2014/main" id="{41F8E743-E90C-46B2-D669-7906EE295CC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a:extLst>
              <a:ext uri="{FF2B5EF4-FFF2-40B4-BE49-F238E27FC236}">
                <a16:creationId xmlns:a16="http://schemas.microsoft.com/office/drawing/2014/main" id="{ACC593DA-65F8-BABD-AE8C-05AC419D9B3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a:extLst>
              <a:ext uri="{FF2B5EF4-FFF2-40B4-BE49-F238E27FC236}">
                <a16:creationId xmlns:a16="http://schemas.microsoft.com/office/drawing/2014/main" id="{F4568780-919B-7D17-17F3-87E9BE7AD17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extLst>
      <p:ext uri="{BB962C8B-B14F-4D97-AF65-F5344CB8AC3E}">
        <p14:creationId xmlns:p14="http://schemas.microsoft.com/office/powerpoint/2010/main" val="1497655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8ADEF205-C015-59C5-BF62-3D88A86CA379}"/>
            </a:ext>
          </a:extLst>
        </p:cNvPr>
        <p:cNvGrpSpPr/>
        <p:nvPr/>
      </p:nvGrpSpPr>
      <p:grpSpPr>
        <a:xfrm>
          <a:off x="0" y="0"/>
          <a:ext cx="0" cy="0"/>
          <a:chOff x="0" y="0"/>
          <a:chExt cx="0" cy="0"/>
        </a:xfrm>
      </p:grpSpPr>
      <p:sp>
        <p:nvSpPr>
          <p:cNvPr id="356" name="Google Shape;356;p21:notes">
            <a:extLst>
              <a:ext uri="{FF2B5EF4-FFF2-40B4-BE49-F238E27FC236}">
                <a16:creationId xmlns:a16="http://schemas.microsoft.com/office/drawing/2014/main" id="{CFD0509B-CECE-5C9B-68CE-8B0A501D3B2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a:extLst>
              <a:ext uri="{FF2B5EF4-FFF2-40B4-BE49-F238E27FC236}">
                <a16:creationId xmlns:a16="http://schemas.microsoft.com/office/drawing/2014/main" id="{1EFF95D7-33DE-C27A-92CF-A4D3832C3B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a:extLst>
              <a:ext uri="{FF2B5EF4-FFF2-40B4-BE49-F238E27FC236}">
                <a16:creationId xmlns:a16="http://schemas.microsoft.com/office/drawing/2014/main" id="{62995046-BF20-7576-6B8D-A6DA684EDF1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extLst>
      <p:ext uri="{BB962C8B-B14F-4D97-AF65-F5344CB8AC3E}">
        <p14:creationId xmlns:p14="http://schemas.microsoft.com/office/powerpoint/2010/main" val="20776593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05378CF0-4D14-FCD1-0BC8-7AA0507D2083}"/>
            </a:ext>
          </a:extLst>
        </p:cNvPr>
        <p:cNvGrpSpPr/>
        <p:nvPr/>
      </p:nvGrpSpPr>
      <p:grpSpPr>
        <a:xfrm>
          <a:off x="0" y="0"/>
          <a:ext cx="0" cy="0"/>
          <a:chOff x="0" y="0"/>
          <a:chExt cx="0" cy="0"/>
        </a:xfrm>
      </p:grpSpPr>
      <p:sp>
        <p:nvSpPr>
          <p:cNvPr id="356" name="Google Shape;356;p21:notes">
            <a:extLst>
              <a:ext uri="{FF2B5EF4-FFF2-40B4-BE49-F238E27FC236}">
                <a16:creationId xmlns:a16="http://schemas.microsoft.com/office/drawing/2014/main" id="{254C16E3-A36A-C39E-BB3A-1946EB70025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a:extLst>
              <a:ext uri="{FF2B5EF4-FFF2-40B4-BE49-F238E27FC236}">
                <a16:creationId xmlns:a16="http://schemas.microsoft.com/office/drawing/2014/main" id="{F192C2DD-8B82-AD5D-DA5F-EC69FE78433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a:extLst>
              <a:ext uri="{FF2B5EF4-FFF2-40B4-BE49-F238E27FC236}">
                <a16:creationId xmlns:a16="http://schemas.microsoft.com/office/drawing/2014/main" id="{427FB81D-7A12-7500-28F5-C972574CB6F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extLst>
      <p:ext uri="{BB962C8B-B14F-4D97-AF65-F5344CB8AC3E}">
        <p14:creationId xmlns:p14="http://schemas.microsoft.com/office/powerpoint/2010/main" val="3571452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6AD3C2DB-10CA-EC7F-532B-6CA85334AC25}"/>
            </a:ext>
          </a:extLst>
        </p:cNvPr>
        <p:cNvGrpSpPr/>
        <p:nvPr/>
      </p:nvGrpSpPr>
      <p:grpSpPr>
        <a:xfrm>
          <a:off x="0" y="0"/>
          <a:ext cx="0" cy="0"/>
          <a:chOff x="0" y="0"/>
          <a:chExt cx="0" cy="0"/>
        </a:xfrm>
      </p:grpSpPr>
      <p:sp>
        <p:nvSpPr>
          <p:cNvPr id="356" name="Google Shape;356;p21:notes">
            <a:extLst>
              <a:ext uri="{FF2B5EF4-FFF2-40B4-BE49-F238E27FC236}">
                <a16:creationId xmlns:a16="http://schemas.microsoft.com/office/drawing/2014/main" id="{0AC21036-6BBF-8DB2-4AE3-D1021F06A81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a:extLst>
              <a:ext uri="{FF2B5EF4-FFF2-40B4-BE49-F238E27FC236}">
                <a16:creationId xmlns:a16="http://schemas.microsoft.com/office/drawing/2014/main" id="{5CA3D698-8634-47BE-71A3-9ECB097188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a:extLst>
              <a:ext uri="{FF2B5EF4-FFF2-40B4-BE49-F238E27FC236}">
                <a16:creationId xmlns:a16="http://schemas.microsoft.com/office/drawing/2014/main" id="{88893462-0EAB-9334-99FA-BAB0C4BF934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extLst>
      <p:ext uri="{BB962C8B-B14F-4D97-AF65-F5344CB8AC3E}">
        <p14:creationId xmlns:p14="http://schemas.microsoft.com/office/powerpoint/2010/main" val="1612580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2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9" name="Google Shape;29;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5" name="Google Shape;35;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2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41" name="Google Shape;4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7" name="Google Shape;47;p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8" name="Google Shape;48;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4" name="Google Shape;54;p2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5" name="Google Shape;55;p2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6" name="Google Shape;56;p2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7" name="Google Shape;57;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3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8" name="Google Shape;68;p3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2"/>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418720" y="351389"/>
            <a:ext cx="8615100" cy="268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Times New Roman"/>
                <a:ea typeface="Times New Roman"/>
                <a:cs typeface="Times New Roman"/>
                <a:sym typeface="Times New Roman"/>
              </a:rPr>
              <a:t>    Department of Computer Science and Engineering</a:t>
            </a:r>
            <a:br>
              <a:rPr lang="en-US" sz="2000" b="1" i="0" u="none" strike="noStrike" cap="none" dirty="0">
                <a:solidFill>
                  <a:schemeClr val="dk1"/>
                </a:solidFill>
                <a:latin typeface="Times New Roman"/>
                <a:ea typeface="Times New Roman"/>
                <a:cs typeface="Times New Roman"/>
                <a:sym typeface="Times New Roman"/>
              </a:rPr>
            </a:br>
            <a:r>
              <a:rPr lang="en-US" sz="2000" b="1" i="0" u="none" strike="noStrike" cap="none" dirty="0">
                <a:solidFill>
                  <a:schemeClr val="dk1"/>
                </a:solidFill>
                <a:latin typeface="Times New Roman"/>
                <a:ea typeface="Times New Roman"/>
                <a:cs typeface="Times New Roman"/>
                <a:sym typeface="Times New Roman"/>
              </a:rPr>
              <a:t>           </a:t>
            </a:r>
            <a:r>
              <a:rPr lang="en-US" sz="2000" b="0" i="0" u="none" strike="noStrike" cap="none" dirty="0">
                <a:solidFill>
                  <a:schemeClr val="dk1"/>
                </a:solidFill>
                <a:latin typeface="Times New Roman"/>
                <a:ea typeface="Times New Roman"/>
                <a:cs typeface="Times New Roman"/>
                <a:sym typeface="Times New Roman"/>
              </a:rPr>
              <a:t>VIGNAN’S LARA INSTITUTE OF TECHNOLOGY AND SCIENCE</a:t>
            </a:r>
            <a:br>
              <a:rPr lang="en-US" sz="2000" b="1" i="0" u="none" strike="noStrike" cap="none" dirty="0">
                <a:solidFill>
                  <a:schemeClr val="dk1"/>
                </a:solidFill>
                <a:latin typeface="Times New Roman"/>
                <a:ea typeface="Times New Roman"/>
                <a:cs typeface="Times New Roman"/>
                <a:sym typeface="Times New Roman"/>
              </a:rPr>
            </a:br>
            <a:br>
              <a:rPr lang="en-US" sz="2000" b="1" i="0" u="none" strike="noStrike" cap="none" dirty="0">
                <a:solidFill>
                  <a:schemeClr val="dk1"/>
                </a:solidFill>
                <a:latin typeface="Times New Roman"/>
                <a:ea typeface="Times New Roman"/>
                <a:cs typeface="Times New Roman"/>
                <a:sym typeface="Times New Roman"/>
              </a:rPr>
            </a:br>
            <a:r>
              <a:rPr lang="en-US" sz="2000" b="0" i="0" u="none" strike="noStrike" cap="none" dirty="0">
                <a:solidFill>
                  <a:schemeClr val="dk1"/>
                </a:solidFill>
                <a:latin typeface="Times New Roman"/>
                <a:ea typeface="Times New Roman"/>
                <a:cs typeface="Times New Roman"/>
                <a:sym typeface="Times New Roman"/>
              </a:rPr>
              <a:t>Project Review </a:t>
            </a:r>
            <a:br>
              <a:rPr lang="en-US" sz="2000" b="1" i="0" u="none" strike="noStrike" cap="none" dirty="0">
                <a:solidFill>
                  <a:schemeClr val="dk1"/>
                </a:solidFill>
                <a:latin typeface="Times New Roman"/>
                <a:ea typeface="Times New Roman"/>
                <a:cs typeface="Times New Roman"/>
                <a:sym typeface="Times New Roman"/>
              </a:rPr>
            </a:br>
            <a:r>
              <a:rPr lang="en-US" sz="2000" b="0" i="0" u="none" strike="noStrike" cap="none" dirty="0">
                <a:solidFill>
                  <a:schemeClr val="dk1"/>
                </a:solidFill>
                <a:latin typeface="Times New Roman"/>
                <a:ea typeface="Times New Roman"/>
                <a:cs typeface="Times New Roman"/>
                <a:sym typeface="Times New Roman"/>
              </a:rPr>
              <a:t>on</a:t>
            </a: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Times New Roman"/>
              <a:ea typeface="Times New Roman"/>
              <a:cs typeface="Times New Roman"/>
              <a:sym typeface="Times New Roman"/>
            </a:endParaRPr>
          </a:p>
          <a:p>
            <a:pPr lvl="0" algn="ctr">
              <a:buClr>
                <a:schemeClr val="dk1"/>
              </a:buClr>
              <a:buSzPts val="4000"/>
            </a:pPr>
            <a:r>
              <a:rPr lang="en-US" sz="2400" b="1" dirty="0">
                <a:solidFill>
                  <a:schemeClr val="dk1"/>
                </a:solidFill>
                <a:latin typeface="Times New Roman"/>
                <a:ea typeface="Times New Roman"/>
                <a:cs typeface="Times New Roman"/>
                <a:sym typeface="Times New Roman"/>
              </a:rPr>
              <a:t>Timetable Generator</a:t>
            </a:r>
            <a:endParaRPr sz="24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endParaRPr sz="2400" b="0" i="0" u="none" strike="noStrike" cap="none" dirty="0">
              <a:solidFill>
                <a:schemeClr val="dk1"/>
              </a:solidFill>
              <a:latin typeface="Times New Roman"/>
              <a:ea typeface="Times New Roman"/>
              <a:cs typeface="Times New Roman"/>
              <a:sym typeface="Times New Roman"/>
            </a:endParaRPr>
          </a:p>
        </p:txBody>
      </p:sp>
      <p:pic>
        <p:nvPicPr>
          <p:cNvPr id="89" name="Google Shape;89;p1" descr="logo.png"/>
          <p:cNvPicPr preferRelativeResize="0"/>
          <p:nvPr/>
        </p:nvPicPr>
        <p:blipFill rotWithShape="1">
          <a:blip r:embed="rId3">
            <a:alphaModFix/>
          </a:blip>
          <a:srcRect/>
          <a:stretch/>
        </p:blipFill>
        <p:spPr>
          <a:xfrm>
            <a:off x="418721" y="285728"/>
            <a:ext cx="928695" cy="857256"/>
          </a:xfrm>
          <a:prstGeom prst="rect">
            <a:avLst/>
          </a:prstGeom>
          <a:noFill/>
          <a:ln>
            <a:noFill/>
          </a:ln>
        </p:spPr>
      </p:pic>
      <p:sp>
        <p:nvSpPr>
          <p:cNvPr id="90" name="Google Shape;90;p1"/>
          <p:cNvSpPr/>
          <p:nvPr/>
        </p:nvSpPr>
        <p:spPr>
          <a:xfrm>
            <a:off x="163650" y="3996550"/>
            <a:ext cx="3999300" cy="1938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Under The Esteemed Guidance of</a:t>
            </a:r>
            <a:endParaRPr lang="en-US" dirty="0">
              <a:ea typeface="Times New Roman"/>
            </a:endParaRPr>
          </a:p>
          <a:p>
            <a:pPr lvl="0" algn="ctr">
              <a:buSzPts val="2000"/>
            </a:pPr>
            <a:r>
              <a:rPr lang="en-US" sz="2000" dirty="0"/>
              <a:t>Mr. T. V. </a:t>
            </a:r>
            <a:r>
              <a:rPr lang="en-US" sz="2000" dirty="0" err="1"/>
              <a:t>Vamsi</a:t>
            </a:r>
            <a:r>
              <a:rPr lang="en-US" sz="2000" dirty="0"/>
              <a:t> Krishna</a:t>
            </a:r>
            <a:endParaRPr lang="en-US" sz="1500" b="1" dirty="0">
              <a:solidFill>
                <a:schemeClr val="dk1"/>
              </a:solidFill>
              <a:latin typeface="Times New Roman"/>
              <a:cs typeface="Times New Roman"/>
              <a:sym typeface="Times New Roman"/>
            </a:endParaRPr>
          </a:p>
          <a:p>
            <a:pPr lvl="0" algn="ctr">
              <a:buSzPts val="2000"/>
            </a:pPr>
            <a:r>
              <a:rPr lang="en-US" sz="2000" dirty="0">
                <a:solidFill>
                  <a:schemeClr val="dk1"/>
                </a:solidFill>
                <a:latin typeface="Times New Roman"/>
                <a:ea typeface="Times New Roman"/>
                <a:cs typeface="Times New Roman"/>
                <a:sym typeface="Times New Roman"/>
              </a:rPr>
              <a:t>Associate</a:t>
            </a:r>
            <a:r>
              <a:rPr lang="en-US" sz="2000" b="0" i="0" u="none" strike="noStrike" cap="none" dirty="0">
                <a:solidFill>
                  <a:schemeClr val="dk1"/>
                </a:solidFill>
                <a:latin typeface="Times New Roman"/>
                <a:ea typeface="Times New Roman"/>
                <a:cs typeface="Times New Roman"/>
                <a:sym typeface="Times New Roman"/>
              </a:rPr>
              <a:t> Professor</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CSE Department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rgbClr val="0C0C0C"/>
              </a:solidFill>
              <a:latin typeface="Times New Roman"/>
              <a:ea typeface="Times New Roman"/>
              <a:cs typeface="Times New Roman"/>
              <a:sym typeface="Times New Roman"/>
            </a:endParaRPr>
          </a:p>
        </p:txBody>
      </p:sp>
      <p:sp>
        <p:nvSpPr>
          <p:cNvPr id="91" name="Google Shape;91;p1"/>
          <p:cNvSpPr/>
          <p:nvPr/>
        </p:nvSpPr>
        <p:spPr>
          <a:xfrm>
            <a:off x="4267200" y="3861048"/>
            <a:ext cx="4724400" cy="1938992"/>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2000"/>
              <a:buFont typeface="Arial"/>
              <a:buNone/>
            </a:pPr>
            <a:r>
              <a:rPr lang="en-US" sz="2000" b="1" i="0" u="none" strike="noStrike" cap="none" dirty="0">
                <a:solidFill>
                  <a:srgbClr val="0C0C0C"/>
                </a:solidFill>
                <a:latin typeface="Times New Roman"/>
                <a:ea typeface="Times New Roman"/>
                <a:cs typeface="Times New Roman"/>
                <a:sym typeface="Times New Roman"/>
              </a:rPr>
              <a:t>Presented By </a:t>
            </a:r>
            <a:endParaRPr lang="en-US" dirty="0">
              <a:ea typeface="Times New Roman"/>
            </a:endParaRPr>
          </a:p>
          <a:p>
            <a:pPr marL="0" marR="0" lvl="0" indent="0" algn="r" rtl="0">
              <a:lnSpc>
                <a:spcPct val="100000"/>
              </a:lnSpc>
              <a:spcBef>
                <a:spcPts val="0"/>
              </a:spcBef>
              <a:spcAft>
                <a:spcPts val="0"/>
              </a:spcAft>
              <a:buClr>
                <a:srgbClr val="000000"/>
              </a:buClr>
              <a:buSzPts val="2000"/>
              <a:buFont typeface="Arial"/>
              <a:buNone/>
            </a:pPr>
            <a:r>
              <a:rPr lang="en-US" sz="2000" b="0" i="0" u="none" strike="noStrike" cap="none" dirty="0">
                <a:solidFill>
                  <a:srgbClr val="0C0C0C"/>
                </a:solidFill>
                <a:latin typeface="Times New Roman"/>
                <a:ea typeface="Times New Roman"/>
                <a:cs typeface="Times New Roman"/>
                <a:sym typeface="Times New Roman"/>
              </a:rPr>
              <a:t>Batch No:08</a:t>
            </a:r>
          </a:p>
          <a:p>
            <a:pPr marL="0" marR="0" lvl="0" indent="0" algn="r" rtl="0">
              <a:lnSpc>
                <a:spcPct val="100000"/>
              </a:lnSpc>
              <a:spcBef>
                <a:spcPts val="0"/>
              </a:spcBef>
              <a:spcAft>
                <a:spcPts val="0"/>
              </a:spcAft>
              <a:buClr>
                <a:srgbClr val="000000"/>
              </a:buClr>
              <a:buSzPts val="2000"/>
              <a:buFont typeface="Arial"/>
              <a:buNone/>
            </a:pPr>
            <a:r>
              <a:rPr lang="en-US" sz="2000" dirty="0">
                <a:solidFill>
                  <a:srgbClr val="0C0C0C"/>
                </a:solidFill>
                <a:latin typeface="Times New Roman"/>
                <a:ea typeface="Times New Roman"/>
                <a:cs typeface="Times New Roman"/>
                <a:sym typeface="Times New Roman"/>
              </a:rPr>
              <a:t>D.KALADHAR ROYAL</a:t>
            </a:r>
            <a:r>
              <a:rPr lang="en-US" sz="2000" b="0" i="0" u="none" strike="noStrike" cap="none" dirty="0">
                <a:solidFill>
                  <a:srgbClr val="0C0C0C"/>
                </a:solidFill>
                <a:latin typeface="Times New Roman"/>
                <a:ea typeface="Times New Roman"/>
                <a:cs typeface="Times New Roman"/>
                <a:sym typeface="Times New Roman"/>
              </a:rPr>
              <a:t>      </a:t>
            </a:r>
            <a:r>
              <a:rPr lang="en-US" sz="2000" dirty="0">
                <a:solidFill>
                  <a:srgbClr val="0C0C0C"/>
                </a:solidFill>
                <a:latin typeface="Times New Roman"/>
                <a:ea typeface="Times New Roman"/>
                <a:cs typeface="Times New Roman"/>
                <a:sym typeface="Times New Roman"/>
              </a:rPr>
              <a:t>23</a:t>
            </a:r>
            <a:r>
              <a:rPr lang="en-US" sz="2000" b="0" i="0" u="none" strike="noStrike" cap="none" dirty="0">
                <a:solidFill>
                  <a:srgbClr val="0C0C0C"/>
                </a:solidFill>
                <a:latin typeface="Times New Roman"/>
                <a:ea typeface="Times New Roman"/>
                <a:cs typeface="Times New Roman"/>
                <a:sym typeface="Times New Roman"/>
              </a:rPr>
              <a:t>FE1A6115</a:t>
            </a:r>
            <a:r>
              <a:rPr lang="en-US" dirty="0">
                <a:ea typeface="Times New Roman"/>
              </a:rPr>
              <a:t> </a:t>
            </a:r>
            <a:r>
              <a:rPr lang="en-US" sz="2000" dirty="0">
                <a:solidFill>
                  <a:srgbClr val="0C0C0C"/>
                </a:solidFill>
                <a:latin typeface="Times New Roman"/>
                <a:ea typeface="Times New Roman"/>
                <a:cs typeface="Times New Roman"/>
                <a:sym typeface="Times New Roman"/>
              </a:rPr>
              <a:t>D.TEJASWINI</a:t>
            </a:r>
            <a:r>
              <a:rPr lang="en-US" sz="2000" b="0" i="0" u="none" strike="noStrike" cap="none" dirty="0">
                <a:solidFill>
                  <a:srgbClr val="0C0C0C"/>
                </a:solidFill>
                <a:latin typeface="Times New Roman"/>
                <a:ea typeface="Times New Roman"/>
                <a:cs typeface="Times New Roman"/>
                <a:sym typeface="Times New Roman"/>
              </a:rPr>
              <a:t>            </a:t>
            </a:r>
            <a:r>
              <a:rPr lang="en-US" sz="2000" dirty="0">
                <a:solidFill>
                  <a:srgbClr val="0C0C0C"/>
                </a:solidFill>
                <a:latin typeface="Times New Roman"/>
                <a:ea typeface="Times New Roman"/>
                <a:cs typeface="Times New Roman"/>
                <a:sym typeface="Times New Roman"/>
              </a:rPr>
              <a:t>23</a:t>
            </a:r>
            <a:r>
              <a:rPr lang="en-US" sz="2000" b="0" i="0" u="none" strike="noStrike" cap="none" dirty="0">
                <a:solidFill>
                  <a:srgbClr val="0C0C0C"/>
                </a:solidFill>
                <a:latin typeface="Times New Roman"/>
                <a:ea typeface="Times New Roman"/>
                <a:cs typeface="Times New Roman"/>
                <a:sym typeface="Times New Roman"/>
              </a:rPr>
              <a:t>FE1A6117</a:t>
            </a:r>
            <a:endParaRPr lang="en-US" dirty="0">
              <a:ea typeface="Times New Roman"/>
            </a:endParaRPr>
          </a:p>
          <a:p>
            <a:pPr marL="0" marR="0" lvl="0" indent="0" algn="r" rtl="0">
              <a:lnSpc>
                <a:spcPct val="100000"/>
              </a:lnSpc>
              <a:spcBef>
                <a:spcPts val="0"/>
              </a:spcBef>
              <a:spcAft>
                <a:spcPts val="0"/>
              </a:spcAft>
              <a:buClr>
                <a:srgbClr val="000000"/>
              </a:buClr>
              <a:buSzPts val="2000"/>
              <a:buFont typeface="Arial"/>
              <a:buNone/>
            </a:pPr>
            <a:r>
              <a:rPr lang="en-US" sz="2000" dirty="0">
                <a:solidFill>
                  <a:srgbClr val="0C0C0C"/>
                </a:solidFill>
                <a:latin typeface="Times New Roman"/>
                <a:ea typeface="Times New Roman"/>
                <a:cs typeface="Times New Roman"/>
                <a:sym typeface="Times New Roman"/>
              </a:rPr>
              <a:t>Y.NAGA SRUTHI</a:t>
            </a:r>
            <a:r>
              <a:rPr lang="en-US" sz="2000" b="0" i="0" u="none" strike="noStrike" cap="none" dirty="0">
                <a:solidFill>
                  <a:srgbClr val="0C0C0C"/>
                </a:solidFill>
                <a:latin typeface="Times New Roman"/>
                <a:ea typeface="Times New Roman"/>
                <a:cs typeface="Times New Roman"/>
                <a:sym typeface="Times New Roman"/>
              </a:rPr>
              <a:t>             23FE1A6162</a:t>
            </a:r>
            <a:endParaRPr sz="1400" b="0" i="0" u="none" strike="noStrike" cap="none" dirty="0">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000"/>
              <a:buFont typeface="Arial"/>
              <a:buNone/>
            </a:pPr>
            <a:r>
              <a:rPr lang="en-US" sz="2000" b="0" i="0" u="none" strike="noStrike" cap="none" dirty="0">
                <a:solidFill>
                  <a:srgbClr val="0C0C0C"/>
                </a:solidFill>
                <a:latin typeface="Times New Roman"/>
                <a:ea typeface="Times New Roman"/>
                <a:cs typeface="Times New Roman"/>
                <a:sym typeface="Times New Roman"/>
              </a:rPr>
              <a:t>  J.</a:t>
            </a:r>
            <a:r>
              <a:rPr lang="en-US" sz="2000" dirty="0">
                <a:solidFill>
                  <a:srgbClr val="0C0C0C"/>
                </a:solidFill>
                <a:latin typeface="Times New Roman"/>
                <a:ea typeface="Times New Roman"/>
                <a:cs typeface="Times New Roman"/>
                <a:sym typeface="Times New Roman"/>
              </a:rPr>
              <a:t>MANU</a:t>
            </a:r>
            <a:r>
              <a:rPr lang="en-US" sz="2000" b="0" i="0" u="none" strike="noStrike" cap="none" dirty="0">
                <a:solidFill>
                  <a:srgbClr val="0C0C0C"/>
                </a:solidFill>
                <a:latin typeface="Times New Roman"/>
                <a:ea typeface="Times New Roman"/>
                <a:cs typeface="Times New Roman"/>
                <a:sym typeface="Times New Roman"/>
              </a:rPr>
              <a:t>                </a:t>
            </a:r>
            <a:r>
              <a:rPr lang="en-US" sz="2000" dirty="0">
                <a:solidFill>
                  <a:srgbClr val="0C0C0C"/>
                </a:solidFill>
                <a:latin typeface="Times New Roman"/>
                <a:ea typeface="Times New Roman"/>
                <a:cs typeface="Times New Roman"/>
                <a:sym typeface="Times New Roman"/>
              </a:rPr>
              <a:t>23</a:t>
            </a:r>
            <a:r>
              <a:rPr lang="en-US" sz="2000" b="0" i="0" u="none" strike="noStrike" cap="none" dirty="0">
                <a:solidFill>
                  <a:srgbClr val="0C0C0C"/>
                </a:solidFill>
                <a:latin typeface="Times New Roman"/>
                <a:ea typeface="Times New Roman"/>
                <a:cs typeface="Times New Roman"/>
                <a:sym typeface="Times New Roman"/>
              </a:rPr>
              <a:t>FE1A6163</a:t>
            </a:r>
            <a:endParaRPr sz="2000" b="0" i="0" u="none" strike="noStrike" cap="none" dirty="0">
              <a:solidFill>
                <a:schemeClr val="dk1"/>
              </a:solidFill>
              <a:latin typeface="Times New Roman"/>
              <a:ea typeface="Times New Roman"/>
              <a:cs typeface="Times New Roman"/>
              <a:sym typeface="Times New Roman"/>
            </a:endParaRPr>
          </a:p>
        </p:txBody>
      </p:sp>
      <p:sp>
        <p:nvSpPr>
          <p:cNvPr id="92" name="Google Shape;92;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r>
              <a:rPr lang="en-US">
                <a:latin typeface="Times New Roman"/>
                <a:ea typeface="Times New Roman"/>
                <a:cs typeface="Times New Roman"/>
                <a:sym typeface="Times New Roman"/>
              </a:rPr>
              <a:t>1</a:t>
            </a:r>
            <a:endParaRPr>
              <a:latin typeface="Times New Roman"/>
              <a:ea typeface="Times New Roman"/>
              <a:cs typeface="Times New Roman"/>
              <a:sym typeface="Times New Roman"/>
            </a:endParaRPr>
          </a:p>
        </p:txBody>
      </p:sp>
      <p:sp>
        <p:nvSpPr>
          <p:cNvPr id="93" name="Google Shape;93;p1"/>
          <p:cNvSpPr txBox="1">
            <a:spLocks noGrp="1"/>
          </p:cNvSpPr>
          <p:nvPr>
            <p:ph type="ftr" idx="11"/>
          </p:nvPr>
        </p:nvSpPr>
        <p:spPr>
          <a:xfrm>
            <a:off x="3124200" y="6356350"/>
            <a:ext cx="35256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latin typeface="Times New Roman"/>
                <a:ea typeface="Times New Roman"/>
                <a:cs typeface="Times New Roman"/>
                <a:sym typeface="Times New Roman"/>
              </a:rPr>
              <a:t>Department of Computer Science &amp; Engineering</a:t>
            </a:r>
            <a:endParaRPr>
              <a:latin typeface="Times New Roman"/>
              <a:ea typeface="Times New Roman"/>
              <a:cs typeface="Times New Roman"/>
              <a:sym typeface="Times New Roman"/>
            </a:endParaRPr>
          </a:p>
        </p:txBody>
      </p:sp>
      <p:sp>
        <p:nvSpPr>
          <p:cNvPr id="94" name="Google Shape;94;p1"/>
          <p:cNvSpPr txBox="1"/>
          <p:nvPr/>
        </p:nvSpPr>
        <p:spPr>
          <a:xfrm>
            <a:off x="418721" y="6270992"/>
            <a:ext cx="1704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dirty="0">
                <a:solidFill>
                  <a:schemeClr val="dk1"/>
                </a:solidFill>
                <a:latin typeface="Times New Roman"/>
                <a:ea typeface="Times New Roman"/>
                <a:cs typeface="Times New Roman"/>
                <a:sym typeface="Times New Roman"/>
              </a:rPr>
              <a:t>01</a:t>
            </a:r>
            <a:r>
              <a:rPr lang="en-US" sz="1800" b="0" i="0" u="none" strike="noStrike" cap="none" dirty="0">
                <a:solidFill>
                  <a:schemeClr val="dk1"/>
                </a:solidFill>
                <a:latin typeface="Times New Roman"/>
                <a:ea typeface="Times New Roman"/>
                <a:cs typeface="Times New Roman"/>
                <a:sym typeface="Times New Roman"/>
              </a:rPr>
              <a:t>/09/2025</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24/05/2021</a:t>
            </a:r>
            <a:endParaRPr/>
          </a:p>
        </p:txBody>
      </p:sp>
      <p:sp>
        <p:nvSpPr>
          <p:cNvPr id="100" name="Google Shape;100;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&amp; Engineering</a:t>
            </a: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
        <p:nvSpPr>
          <p:cNvPr id="102" name="Google Shape;102;p2"/>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Calibri"/>
                <a:ea typeface="Calibri"/>
                <a:cs typeface="Calibri"/>
                <a:sym typeface="Calibri"/>
              </a:rPr>
              <a:t>TITLE</a:t>
            </a:r>
            <a:endParaRPr sz="1400" b="0" i="0" u="none" strike="noStrike" cap="none">
              <a:solidFill>
                <a:srgbClr val="000000"/>
              </a:solidFill>
              <a:latin typeface="Arial"/>
              <a:ea typeface="Arial"/>
              <a:cs typeface="Arial"/>
              <a:sym typeface="Arial"/>
            </a:endParaRPr>
          </a:p>
        </p:txBody>
      </p:sp>
      <p:sp>
        <p:nvSpPr>
          <p:cNvPr id="103" name="Google Shape;103;p2"/>
          <p:cNvSpPr/>
          <p:nvPr/>
        </p:nvSpPr>
        <p:spPr>
          <a:xfrm>
            <a:off x="0" y="6356350"/>
            <a:ext cx="9144000" cy="501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4" name="Google Shape;104;p2"/>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05" name="Google Shape;105;p2"/>
          <p:cNvSpPr txBox="1"/>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dirty="0">
                <a:solidFill>
                  <a:schemeClr val="lt1"/>
                </a:solidFill>
                <a:latin typeface="Calibri"/>
                <a:ea typeface="Calibri"/>
                <a:cs typeface="Calibri"/>
                <a:sym typeface="Calibri"/>
              </a:rPr>
              <a:t>01</a:t>
            </a:r>
            <a:r>
              <a:rPr lang="en-US" sz="1800" b="1" i="0" u="none" strike="noStrike" cap="none" dirty="0">
                <a:solidFill>
                  <a:schemeClr val="lt1"/>
                </a:solidFill>
                <a:latin typeface="Calibri"/>
                <a:ea typeface="Calibri"/>
                <a:cs typeface="Calibri"/>
                <a:sym typeface="Calibri"/>
              </a:rPr>
              <a:t>/09/2025</a:t>
            </a:r>
            <a:endParaRPr sz="1400" b="0" i="0" u="none" strike="noStrike" cap="none" dirty="0">
              <a:solidFill>
                <a:srgbClr val="000000"/>
              </a:solidFill>
              <a:latin typeface="Arial"/>
              <a:ea typeface="Arial"/>
              <a:cs typeface="Arial"/>
              <a:sym typeface="Arial"/>
            </a:endParaRPr>
          </a:p>
        </p:txBody>
      </p:sp>
      <p:sp>
        <p:nvSpPr>
          <p:cNvPr id="106" name="Google Shape;106;p2"/>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2</a:t>
            </a:fld>
            <a:endParaRPr sz="1800" b="1" i="0" u="none" strike="noStrike" cap="none">
              <a:solidFill>
                <a:schemeClr val="lt1"/>
              </a:solidFill>
              <a:latin typeface="Calibri"/>
              <a:ea typeface="Calibri"/>
              <a:cs typeface="Calibri"/>
              <a:sym typeface="Calibri"/>
            </a:endParaRPr>
          </a:p>
        </p:txBody>
      </p:sp>
      <p:sp>
        <p:nvSpPr>
          <p:cNvPr id="107" name="Google Shape;107;p2"/>
          <p:cNvSpPr txBox="1"/>
          <p:nvPr/>
        </p:nvSpPr>
        <p:spPr>
          <a:xfrm>
            <a:off x="1973444" y="6352375"/>
            <a:ext cx="5000700" cy="509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     Department of Computer Science &amp; Engineering</a:t>
            </a:r>
            <a:endParaRPr sz="1800" b="1" i="0" u="none" strike="noStrike" cap="none">
              <a:solidFill>
                <a:schemeClr val="lt1"/>
              </a:solidFill>
              <a:latin typeface="Calibri"/>
              <a:ea typeface="Calibri"/>
              <a:cs typeface="Calibri"/>
              <a:sym typeface="Calibri"/>
            </a:endParaRPr>
          </a:p>
        </p:txBody>
      </p:sp>
      <p:sp>
        <p:nvSpPr>
          <p:cNvPr id="108" name="Google Shape;108;p2"/>
          <p:cNvSpPr/>
          <p:nvPr/>
        </p:nvSpPr>
        <p:spPr>
          <a:xfrm>
            <a:off x="464234" y="1561514"/>
            <a:ext cx="8394046" cy="2554545"/>
          </a:xfrm>
          <a:prstGeom prst="rect">
            <a:avLst/>
          </a:prstGeom>
          <a:noFill/>
          <a:ln>
            <a:noFill/>
          </a:ln>
        </p:spPr>
        <p:txBody>
          <a:bodyPr spcFirstLastPara="1" wrap="square" lIns="91425" tIns="45700" rIns="91425" bIns="45700" anchor="t" anchorCtr="0">
            <a:noAutofit/>
          </a:bodyPr>
          <a:lstStyle/>
          <a:p>
            <a:pPr lvl="0" algn="ctr">
              <a:buClr>
                <a:schemeClr val="dk1"/>
              </a:buClr>
              <a:buSzPts val="2400"/>
            </a:pPr>
            <a:endParaRPr sz="4000" b="1" i="0" u="none" strike="noStrike" cap="none" dirty="0">
              <a:solidFill>
                <a:schemeClr val="dk1"/>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1E19C3A8-0D82-64A0-5E13-AC038F7875F7}"/>
              </a:ext>
            </a:extLst>
          </p:cNvPr>
          <p:cNvSpPr txBox="1"/>
          <p:nvPr/>
        </p:nvSpPr>
        <p:spPr>
          <a:xfrm>
            <a:off x="142844" y="3093548"/>
            <a:ext cx="8572560" cy="769441"/>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000"/>
              <a:buFont typeface="Arial"/>
              <a:buNone/>
            </a:pPr>
            <a:r>
              <a:rPr lang="en-US" sz="4400" b="1" i="0" u="none" strike="noStrike" cap="none" dirty="0">
                <a:solidFill>
                  <a:schemeClr val="dk1"/>
                </a:solidFill>
                <a:latin typeface="Times New Roman"/>
                <a:ea typeface="Times New Roman"/>
                <a:cs typeface="Times New Roman"/>
                <a:sym typeface="Times New Roman"/>
              </a:rPr>
              <a:t>Timetable Generator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Calibri"/>
                <a:ea typeface="Calibri"/>
                <a:cs typeface="Calibri"/>
                <a:sym typeface="Calibri"/>
              </a:rPr>
              <a:t>CONTENTS</a:t>
            </a: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0"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6" name="Google Shape;116;p3"/>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17" name="Google Shape;117;p3"/>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400"/>
              <a:buFont typeface="Arial"/>
              <a:buNone/>
            </a:pPr>
            <a:r>
              <a:rPr lang="en-US" sz="1800" b="1" dirty="0">
                <a:solidFill>
                  <a:schemeClr val="lt1"/>
                </a:solidFill>
              </a:rPr>
              <a:t>01/09/2025</a:t>
            </a:r>
            <a:endParaRPr dirty="0"/>
          </a:p>
        </p:txBody>
      </p:sp>
      <p:sp>
        <p:nvSpPr>
          <p:cNvPr id="118" name="Google Shape;118;p3"/>
          <p:cNvSpPr txBox="1">
            <a:spLocks noGrp="1"/>
          </p:cNvSpPr>
          <p:nvPr>
            <p:ph type="sldNum" idx="12"/>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3</a:t>
            </a:fld>
            <a:endParaRPr sz="1800" b="1">
              <a:solidFill>
                <a:schemeClr val="lt1"/>
              </a:solidFill>
            </a:endParaRPr>
          </a:p>
        </p:txBody>
      </p:sp>
      <p:sp>
        <p:nvSpPr>
          <p:cNvPr id="119" name="Google Shape;119;p3"/>
          <p:cNvSpPr txBox="1">
            <a:spLocks noGrp="1"/>
          </p:cNvSpPr>
          <p:nvPr>
            <p:ph type="ftr" idx="11"/>
          </p:nvPr>
        </p:nvSpPr>
        <p:spPr>
          <a:xfrm>
            <a:off x="1928800" y="6500825"/>
            <a:ext cx="5167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sp>
        <p:nvSpPr>
          <p:cNvPr id="120" name="Google Shape;120;p3"/>
          <p:cNvSpPr txBox="1"/>
          <p:nvPr/>
        </p:nvSpPr>
        <p:spPr>
          <a:xfrm>
            <a:off x="1502500" y="1219200"/>
            <a:ext cx="6150300" cy="44934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600"/>
              <a:buFont typeface="Noto Sans Symbols"/>
              <a:buChar char="✔"/>
            </a:pPr>
            <a:r>
              <a:rPr lang="en-US" sz="2600" b="0" i="0" u="none" strike="noStrike" cap="none" dirty="0">
                <a:solidFill>
                  <a:schemeClr val="dk1"/>
                </a:solidFill>
                <a:latin typeface="Calibri"/>
                <a:ea typeface="Calibri"/>
                <a:cs typeface="Calibri"/>
                <a:sym typeface="Calibri"/>
              </a:rPr>
              <a:t> </a:t>
            </a:r>
            <a:r>
              <a:rPr lang="en-US" sz="2600" b="0" i="0" u="none" strike="noStrike" cap="none" dirty="0">
                <a:solidFill>
                  <a:schemeClr val="dk1"/>
                </a:solidFill>
                <a:latin typeface="Times New Roman"/>
                <a:ea typeface="Times New Roman"/>
                <a:cs typeface="Times New Roman"/>
                <a:sym typeface="Times New Roman"/>
              </a:rPr>
              <a:t>Title</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Calibri"/>
              <a:buChar char="✔"/>
            </a:pPr>
            <a:r>
              <a:rPr lang="en-US" sz="2600" b="0" i="0" u="none" strike="noStrike" cap="none" dirty="0">
                <a:solidFill>
                  <a:schemeClr val="dk1"/>
                </a:solidFill>
                <a:latin typeface="Calibri"/>
                <a:ea typeface="Calibri"/>
                <a:cs typeface="Calibri"/>
                <a:sym typeface="Calibri"/>
              </a:rPr>
              <a:t> </a:t>
            </a:r>
            <a:r>
              <a:rPr lang="en-US" sz="2600" b="0" i="0" u="none" strike="noStrike" cap="none" dirty="0">
                <a:solidFill>
                  <a:schemeClr val="dk1"/>
                </a:solidFill>
                <a:latin typeface="Times New Roman"/>
                <a:ea typeface="Times New Roman"/>
                <a:cs typeface="Times New Roman"/>
                <a:sym typeface="Times New Roman"/>
              </a:rPr>
              <a:t>Abstract</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Calibri"/>
              <a:buChar char="✔"/>
            </a:pPr>
            <a:r>
              <a:rPr lang="en-US" sz="2600" b="0" i="0" u="none" strike="noStrike" cap="none" dirty="0">
                <a:solidFill>
                  <a:schemeClr val="dk1"/>
                </a:solidFill>
                <a:latin typeface="Calibri"/>
                <a:ea typeface="Calibri"/>
                <a:cs typeface="Calibri"/>
                <a:sym typeface="Calibri"/>
              </a:rPr>
              <a:t> </a:t>
            </a:r>
            <a:r>
              <a:rPr lang="en-US" sz="2600" b="0" i="0" u="none" strike="noStrike" cap="none" dirty="0">
                <a:solidFill>
                  <a:schemeClr val="dk1"/>
                </a:solidFill>
                <a:latin typeface="Times New Roman"/>
                <a:ea typeface="Times New Roman"/>
                <a:cs typeface="Times New Roman"/>
                <a:sym typeface="Times New Roman"/>
              </a:rPr>
              <a:t>Introduction</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Char char="✔"/>
            </a:pPr>
            <a:r>
              <a:rPr lang="en-US" sz="2600" b="0" i="0" u="none" strike="noStrike" cap="none" dirty="0">
                <a:solidFill>
                  <a:schemeClr val="dk1"/>
                </a:solidFill>
                <a:latin typeface="Times New Roman"/>
                <a:ea typeface="Times New Roman"/>
                <a:cs typeface="Times New Roman"/>
                <a:sym typeface="Times New Roman"/>
              </a:rPr>
              <a:t> Literature Survey</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Char char="✔"/>
            </a:pPr>
            <a:r>
              <a:rPr lang="en-US" sz="2600" b="0" i="0" u="none" strike="noStrike" cap="none" dirty="0">
                <a:solidFill>
                  <a:schemeClr val="dk1"/>
                </a:solidFill>
                <a:latin typeface="Times New Roman"/>
                <a:ea typeface="Times New Roman"/>
                <a:cs typeface="Times New Roman"/>
                <a:sym typeface="Times New Roman"/>
              </a:rPr>
              <a:t> Existing System</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Char char="✔"/>
            </a:pPr>
            <a:r>
              <a:rPr lang="en-US" sz="2600" b="0" i="0" u="none" strike="noStrike" cap="none" dirty="0">
                <a:solidFill>
                  <a:schemeClr val="dk1"/>
                </a:solidFill>
                <a:latin typeface="Times New Roman"/>
                <a:ea typeface="Times New Roman"/>
                <a:cs typeface="Times New Roman"/>
                <a:sym typeface="Times New Roman"/>
              </a:rPr>
              <a:t> Proposed System</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Char char="✔"/>
            </a:pPr>
            <a:r>
              <a:rPr lang="en-US" sz="2600" b="0" i="0" u="none" strike="noStrike" cap="none" dirty="0">
                <a:solidFill>
                  <a:schemeClr val="dk1"/>
                </a:solidFill>
                <a:latin typeface="Times New Roman"/>
                <a:ea typeface="Times New Roman"/>
                <a:cs typeface="Times New Roman"/>
                <a:sym typeface="Times New Roman"/>
              </a:rPr>
              <a:t>Proposed Methodology</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Char char="✔"/>
            </a:pPr>
            <a:r>
              <a:rPr lang="en-US" sz="2600" b="0" i="0" u="none" strike="noStrike" cap="none" dirty="0">
                <a:solidFill>
                  <a:schemeClr val="dk1"/>
                </a:solidFill>
                <a:latin typeface="Times New Roman"/>
                <a:ea typeface="Times New Roman"/>
                <a:cs typeface="Times New Roman"/>
                <a:sym typeface="Times New Roman"/>
              </a:rPr>
              <a:t> Conclusion</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Calibri"/>
              <a:buChar char="✔"/>
            </a:pPr>
            <a:r>
              <a:rPr lang="en-US" sz="2600" b="0" i="0" u="none" strike="noStrike" cap="none" dirty="0">
                <a:solidFill>
                  <a:schemeClr val="dk1"/>
                </a:solidFill>
                <a:latin typeface="Calibri"/>
                <a:ea typeface="Calibri"/>
                <a:cs typeface="Calibri"/>
                <a:sym typeface="Calibri"/>
              </a:rPr>
              <a:t> References</a:t>
            </a:r>
            <a:endParaRPr sz="2600" b="0" i="0" u="none" strike="noStrike" cap="none" dirty="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600"/>
              <a:buFont typeface="Arial"/>
              <a:buNone/>
            </a:pPr>
            <a:endParaRPr sz="2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600"/>
              <a:buFont typeface="Arial"/>
              <a:buNone/>
            </a:pPr>
            <a:endParaRPr sz="2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4"/>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Calibri"/>
                <a:ea typeface="Calibri"/>
                <a:cs typeface="Calibri"/>
                <a:sym typeface="Calibri"/>
              </a:rPr>
              <a:t>ABSTRACT</a:t>
            </a:r>
            <a:endParaRPr sz="1400" b="0" i="0" u="none" strike="noStrike" cap="none">
              <a:solidFill>
                <a:srgbClr val="000000"/>
              </a:solidFill>
              <a:latin typeface="Arial"/>
              <a:ea typeface="Arial"/>
              <a:cs typeface="Arial"/>
              <a:sym typeface="Arial"/>
            </a:endParaRPr>
          </a:p>
        </p:txBody>
      </p:sp>
      <p:sp>
        <p:nvSpPr>
          <p:cNvPr id="127" name="Google Shape;127;p4"/>
          <p:cNvSpPr/>
          <p:nvPr/>
        </p:nvSpPr>
        <p:spPr>
          <a:xfrm>
            <a:off x="0"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28" name="Google Shape;128;p4"/>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29" name="Google Shape;129;p4"/>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400"/>
              <a:buFont typeface="Arial"/>
              <a:buNone/>
            </a:pPr>
            <a:r>
              <a:rPr lang="en-US" sz="1800" b="1" dirty="0">
                <a:solidFill>
                  <a:schemeClr val="lt1"/>
                </a:solidFill>
              </a:rPr>
              <a:t> 01/09/2025</a:t>
            </a:r>
            <a:endParaRPr dirty="0"/>
          </a:p>
        </p:txBody>
      </p:sp>
      <p:sp>
        <p:nvSpPr>
          <p:cNvPr id="130" name="Google Shape;130;p4"/>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4</a:t>
            </a:fld>
            <a:endParaRPr sz="1800" b="1">
              <a:solidFill>
                <a:schemeClr val="lt1"/>
              </a:solidFill>
            </a:endParaRPr>
          </a:p>
        </p:txBody>
      </p:sp>
      <p:sp>
        <p:nvSpPr>
          <p:cNvPr id="131" name="Google Shape;131;p4"/>
          <p:cNvSpPr txBox="1">
            <a:spLocks noGrp="1"/>
          </p:cNvSpPr>
          <p:nvPr>
            <p:ph type="ftr" idx="11"/>
          </p:nvPr>
        </p:nvSpPr>
        <p:spPr>
          <a:xfrm>
            <a:off x="1928794" y="6500834"/>
            <a:ext cx="500066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Department of Computer Science &amp; Engineering</a:t>
            </a:r>
            <a:endParaRPr sz="1800" b="1">
              <a:solidFill>
                <a:schemeClr val="lt1"/>
              </a:solidFill>
            </a:endParaRPr>
          </a:p>
        </p:txBody>
      </p:sp>
      <p:sp>
        <p:nvSpPr>
          <p:cNvPr id="132" name="Google Shape;132;p4"/>
          <p:cNvSpPr/>
          <p:nvPr/>
        </p:nvSpPr>
        <p:spPr>
          <a:xfrm>
            <a:off x="284480" y="1351280"/>
            <a:ext cx="8442960" cy="473456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a:buNone/>
            </a:pPr>
            <a:endParaRPr lang="en-US"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lang="en-US" sz="1600" dirty="0">
              <a:solidFill>
                <a:schemeClr val="dk1"/>
              </a:solidFill>
              <a:latin typeface="Times New Roman"/>
              <a:ea typeface="Times New Roman"/>
              <a:cs typeface="Times New Roman"/>
              <a:sym typeface="Times New Roman"/>
            </a:endParaRPr>
          </a:p>
          <a:p>
            <a:pPr algn="just">
              <a:buSzPts val="1600"/>
            </a:pPr>
            <a:r>
              <a:rPr lang="en-US" sz="1600" b="0" i="0" u="none" strike="noStrike" cap="none" dirty="0">
                <a:solidFill>
                  <a:schemeClr val="dk1"/>
                </a:solidFill>
                <a:latin typeface="Times New Roman"/>
                <a:ea typeface="Times New Roman"/>
                <a:cs typeface="Times New Roman"/>
                <a:sym typeface="Times New Roman"/>
              </a:rPr>
              <a:t>	</a:t>
            </a:r>
            <a:r>
              <a:rPr lang="en-US" sz="2000" dirty="0"/>
              <a:t>The process of creating academic timetables is a complex and time-consuming task. Manual scheduling often leads to errors, faculty conflicts, and overlapping classes. This project proposes an Automatic Timetable Generator System that provides role-based access for Admin</a:t>
            </a:r>
            <a:r>
              <a:rPr lang="en-US" sz="2000" b="1" dirty="0"/>
              <a:t>, </a:t>
            </a:r>
            <a:r>
              <a:rPr lang="en-US" sz="2000" dirty="0"/>
              <a:t>Faculty, and Students. The Admin has complete control over timetable creation, where faculty, section, and subjects are selected, and the timetable is generated automatically for multiple sections. The system stores the generated timetable in a database and makes it available for students and faculty to view . The proposed system ensures accuracy, reduces manual workload, and provides a user-friendly interface for managing academic timetables.</a:t>
            </a:r>
          </a:p>
          <a:p>
            <a:pPr lvl="0" algn="just">
              <a:buSzPts val="1600"/>
            </a:pPr>
            <a:endParaRPr lang="en-US"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1564863b4a4_0_82"/>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Calibri"/>
                <a:ea typeface="Calibri"/>
                <a:cs typeface="Calibri"/>
                <a:sym typeface="Calibri"/>
              </a:rPr>
              <a:t>INTRODUCTION</a:t>
            </a:r>
            <a:endParaRPr sz="1400" b="0" i="0" u="none" strike="noStrike" cap="none">
              <a:solidFill>
                <a:srgbClr val="000000"/>
              </a:solidFill>
              <a:latin typeface="Arial"/>
              <a:ea typeface="Arial"/>
              <a:cs typeface="Arial"/>
              <a:sym typeface="Arial"/>
            </a:endParaRPr>
          </a:p>
        </p:txBody>
      </p:sp>
      <p:sp>
        <p:nvSpPr>
          <p:cNvPr id="150" name="Google Shape;150;g1564863b4a4_0_82"/>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1" name="Google Shape;151;g1564863b4a4_0_82"/>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52" name="Google Shape;152;g1564863b4a4_0_82"/>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01</a:t>
            </a:r>
            <a:r>
              <a:rPr lang="en-US" sz="1800" b="1" i="0" u="none" strike="noStrike" cap="none" dirty="0">
                <a:solidFill>
                  <a:schemeClr val="lt1"/>
                </a:solidFill>
                <a:latin typeface="Calibri"/>
                <a:ea typeface="Calibri"/>
                <a:cs typeface="Calibri"/>
                <a:sym typeface="Calibri"/>
              </a:rPr>
              <a:t>/09/2025</a:t>
            </a:r>
            <a:endParaRPr sz="1400" b="0" i="0" u="none" strike="noStrike" cap="none" dirty="0">
              <a:solidFill>
                <a:srgbClr val="000000"/>
              </a:solidFill>
              <a:latin typeface="Arial"/>
              <a:ea typeface="Arial"/>
              <a:cs typeface="Arial"/>
              <a:sym typeface="Arial"/>
            </a:endParaRPr>
          </a:p>
        </p:txBody>
      </p:sp>
      <p:sp>
        <p:nvSpPr>
          <p:cNvPr id="153" name="Google Shape;153;g1564863b4a4_0_82"/>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5</a:t>
            </a:fld>
            <a:endParaRPr sz="1800" b="1" i="0" u="none" strike="noStrike" cap="none">
              <a:solidFill>
                <a:schemeClr val="lt1"/>
              </a:solidFill>
              <a:latin typeface="Calibri"/>
              <a:ea typeface="Calibri"/>
              <a:cs typeface="Calibri"/>
              <a:sym typeface="Calibri"/>
            </a:endParaRPr>
          </a:p>
        </p:txBody>
      </p:sp>
      <p:sp>
        <p:nvSpPr>
          <p:cNvPr id="154" name="Google Shape;154;g1564863b4a4_0_82"/>
          <p:cNvSpPr txBox="1"/>
          <p:nvPr/>
        </p:nvSpPr>
        <p:spPr>
          <a:xfrm>
            <a:off x="1928794" y="6500834"/>
            <a:ext cx="50007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Department of Computer Science &amp; Engineering</a:t>
            </a:r>
            <a:endParaRPr sz="1800" b="1" i="0" u="none" strike="noStrike" cap="none">
              <a:solidFill>
                <a:schemeClr val="lt1"/>
              </a:solidFill>
              <a:latin typeface="Calibri"/>
              <a:ea typeface="Calibri"/>
              <a:cs typeface="Calibri"/>
              <a:sym typeface="Calibri"/>
            </a:endParaRPr>
          </a:p>
        </p:txBody>
      </p:sp>
      <p:sp>
        <p:nvSpPr>
          <p:cNvPr id="155" name="Google Shape;155;g1564863b4a4_0_82"/>
          <p:cNvSpPr/>
          <p:nvPr/>
        </p:nvSpPr>
        <p:spPr>
          <a:xfrm>
            <a:off x="325120" y="1181686"/>
            <a:ext cx="8604515" cy="5097193"/>
          </a:xfrm>
          <a:prstGeom prst="rect">
            <a:avLst/>
          </a:prstGeom>
          <a:noFill/>
          <a:ln>
            <a:noFill/>
          </a:ln>
        </p:spPr>
        <p:txBody>
          <a:bodyPr spcFirstLastPara="1" wrap="square" lIns="91425" tIns="45700" rIns="91425" bIns="45700" anchor="t" anchorCtr="0">
            <a:noAutofit/>
          </a:bodyPr>
          <a:lstStyle/>
          <a:p>
            <a:r>
              <a:rPr lang="en-US" sz="2000" dirty="0">
                <a:latin typeface="Times New Roman" panose="02020603050405020304" pitchFamily="18" charset="0"/>
                <a:cs typeface="Times New Roman" panose="02020603050405020304" pitchFamily="18" charset="0"/>
              </a:rPr>
              <a:t>Time management plays a crucial role in academic institutions, and timetables are at the core of organizing teaching and learning activities. Traditional timetable preparation is difficult, involving manual assignment of subjects, sections, and faculty members, often leading to conflicts. The increasing number of students and courses in higher education institutions makes the scheduling task more challenging.</a:t>
            </a:r>
          </a:p>
          <a:p>
            <a:r>
              <a:rPr lang="en-US" sz="2000" dirty="0">
                <a:latin typeface="Times New Roman" panose="02020603050405020304" pitchFamily="18" charset="0"/>
                <a:cs typeface="Times New Roman" panose="02020603050405020304" pitchFamily="18" charset="0"/>
              </a:rPr>
              <a:t>This project introduces a web-based timetable generator system that simplifies the scheduling process. The system provides different dashboards for Students, Faculty, and Admins, ensuring proper access control. Admins can generate and store timetables automatically, while Students and Faculty can access their personalized schedules easily.</a:t>
            </a:r>
          </a:p>
          <a:p>
            <a:pPr marL="173038" lvl="0" algn="just">
              <a:lnSpc>
                <a:spcPct val="150000"/>
              </a:lnSpc>
              <a:buSzPts val="2000"/>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1564863b4a4_0_15"/>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i="0" u="none" strike="noStrike" cap="none">
                <a:solidFill>
                  <a:schemeClr val="lt1"/>
                </a:solidFill>
                <a:latin typeface="Times New Roman" panose="02020603050405020304" pitchFamily="18" charset="0"/>
                <a:ea typeface="Calibri"/>
                <a:cs typeface="Times New Roman" panose="02020603050405020304" pitchFamily="18" charset="0"/>
                <a:sym typeface="Calibri"/>
              </a:rPr>
              <a:t>LITERATURE SURVEY</a:t>
            </a:r>
            <a:endParaRPr sz="1400" b="0" i="0" u="none" strike="noStrike" cap="none">
              <a:solidFill>
                <a:srgbClr val="000000"/>
              </a:solidFill>
              <a:latin typeface="Times New Roman" panose="02020603050405020304" pitchFamily="18" charset="0"/>
              <a:cs typeface="Times New Roman" panose="02020603050405020304" pitchFamily="18" charset="0"/>
              <a:sym typeface="Arial"/>
            </a:endParaRPr>
          </a:p>
        </p:txBody>
      </p:sp>
      <p:sp>
        <p:nvSpPr>
          <p:cNvPr id="161" name="Google Shape;161;g1564863b4a4_0_15"/>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2" name="Google Shape;162;g1564863b4a4_0_15"/>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63" name="Google Shape;163;g1564863b4a4_0_15"/>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01</a:t>
            </a:r>
            <a:r>
              <a:rPr lang="en-US" sz="1800" b="1" i="0" u="none" strike="noStrike" cap="none" dirty="0">
                <a:solidFill>
                  <a:schemeClr val="lt1"/>
                </a:solidFill>
                <a:latin typeface="Calibri"/>
                <a:ea typeface="Calibri"/>
                <a:cs typeface="Calibri"/>
                <a:sym typeface="Calibri"/>
              </a:rPr>
              <a:t>/09/2025</a:t>
            </a:r>
            <a:endParaRPr sz="1400" b="0" i="0" u="none" strike="noStrike" cap="none" dirty="0">
              <a:solidFill>
                <a:srgbClr val="000000"/>
              </a:solidFill>
              <a:latin typeface="Arial"/>
              <a:ea typeface="Arial"/>
              <a:cs typeface="Arial"/>
              <a:sym typeface="Arial"/>
            </a:endParaRPr>
          </a:p>
        </p:txBody>
      </p:sp>
      <p:sp>
        <p:nvSpPr>
          <p:cNvPr id="164" name="Google Shape;164;g1564863b4a4_0_15"/>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6</a:t>
            </a:fld>
            <a:endParaRPr sz="1800" b="1" i="0" u="none" strike="noStrike" cap="none">
              <a:solidFill>
                <a:schemeClr val="lt1"/>
              </a:solidFill>
              <a:latin typeface="Calibri"/>
              <a:ea typeface="Calibri"/>
              <a:cs typeface="Calibri"/>
              <a:sym typeface="Calibri"/>
            </a:endParaRPr>
          </a:p>
        </p:txBody>
      </p:sp>
      <p:sp>
        <p:nvSpPr>
          <p:cNvPr id="165" name="Google Shape;165;g1564863b4a4_0_15"/>
          <p:cNvSpPr txBox="1"/>
          <p:nvPr/>
        </p:nvSpPr>
        <p:spPr>
          <a:xfrm>
            <a:off x="1928794" y="6500834"/>
            <a:ext cx="50007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Department of Computer Science &amp; Engineering</a:t>
            </a:r>
            <a:endParaRPr sz="1800" b="1" i="0" u="none" strike="noStrike" cap="none">
              <a:solidFill>
                <a:schemeClr val="lt1"/>
              </a:solidFill>
              <a:latin typeface="Calibri"/>
              <a:ea typeface="Calibri"/>
              <a:cs typeface="Calibri"/>
              <a:sym typeface="Calibri"/>
            </a:endParaRPr>
          </a:p>
        </p:txBody>
      </p:sp>
      <p:graphicFrame>
        <p:nvGraphicFramePr>
          <p:cNvPr id="166" name="Google Shape;166;g1564863b4a4_0_15"/>
          <p:cNvGraphicFramePr/>
          <p:nvPr>
            <p:extLst>
              <p:ext uri="{D42A27DB-BD31-4B8C-83A1-F6EECF244321}">
                <p14:modId xmlns:p14="http://schemas.microsoft.com/office/powerpoint/2010/main" val="2928766760"/>
              </p:ext>
            </p:extLst>
          </p:nvPr>
        </p:nvGraphicFramePr>
        <p:xfrm>
          <a:off x="447041" y="928671"/>
          <a:ext cx="8482774" cy="5564102"/>
        </p:xfrm>
        <a:graphic>
          <a:graphicData uri="http://schemas.openxmlformats.org/drawingml/2006/table">
            <a:tbl>
              <a:tblPr>
                <a:noFill/>
                <a:tableStyleId>{C84FF9F9-83FF-4686-BF48-736AEC0F4FCA}</a:tableStyleId>
              </a:tblPr>
              <a:tblGrid>
                <a:gridCol w="608799">
                  <a:extLst>
                    <a:ext uri="{9D8B030D-6E8A-4147-A177-3AD203B41FA5}">
                      <a16:colId xmlns:a16="http://schemas.microsoft.com/office/drawing/2014/main" val="20000"/>
                    </a:ext>
                  </a:extLst>
                </a:gridCol>
                <a:gridCol w="1606124">
                  <a:extLst>
                    <a:ext uri="{9D8B030D-6E8A-4147-A177-3AD203B41FA5}">
                      <a16:colId xmlns:a16="http://schemas.microsoft.com/office/drawing/2014/main" val="20001"/>
                    </a:ext>
                  </a:extLst>
                </a:gridCol>
                <a:gridCol w="2106208">
                  <a:extLst>
                    <a:ext uri="{9D8B030D-6E8A-4147-A177-3AD203B41FA5}">
                      <a16:colId xmlns:a16="http://schemas.microsoft.com/office/drawing/2014/main" val="20002"/>
                    </a:ext>
                  </a:extLst>
                </a:gridCol>
                <a:gridCol w="1991132">
                  <a:extLst>
                    <a:ext uri="{9D8B030D-6E8A-4147-A177-3AD203B41FA5}">
                      <a16:colId xmlns:a16="http://schemas.microsoft.com/office/drawing/2014/main" val="20003"/>
                    </a:ext>
                  </a:extLst>
                </a:gridCol>
                <a:gridCol w="2170511">
                  <a:extLst>
                    <a:ext uri="{9D8B030D-6E8A-4147-A177-3AD203B41FA5}">
                      <a16:colId xmlns:a16="http://schemas.microsoft.com/office/drawing/2014/main" val="20004"/>
                    </a:ext>
                  </a:extLst>
                </a:gridCol>
              </a:tblGrid>
              <a:tr h="957349">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dirty="0" err="1"/>
                        <a:t>S.No</a:t>
                      </a:r>
                      <a:endParaRPr sz="1400" b="1" u="none" strike="noStrike" cap="none" dirty="0"/>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t>Paper Title</a:t>
                      </a:r>
                      <a:endParaRPr sz="1400" b="1" u="none" strike="noStrike" cap="none"/>
                    </a:p>
                  </a:txBody>
                  <a:tcPr marL="91425" marR="91425" marT="91425" marB="91425" anchor="ctr"/>
                </a:tc>
                <a:tc>
                  <a:txBody>
                    <a:bodyPr/>
                    <a:lstStyle/>
                    <a:p>
                      <a:pPr marL="0" marR="0" lvl="0" indent="0" algn="ctr" rtl="0">
                        <a:lnSpc>
                          <a:spcPct val="100000"/>
                        </a:lnSpc>
                        <a:spcBef>
                          <a:spcPts val="0"/>
                        </a:spcBef>
                        <a:spcAft>
                          <a:spcPts val="0"/>
                        </a:spcAft>
                        <a:buClr>
                          <a:schemeClr val="dk1"/>
                        </a:buClr>
                        <a:buSzPts val="1400"/>
                        <a:buFont typeface="Arial"/>
                        <a:buNone/>
                      </a:pPr>
                      <a:r>
                        <a:rPr lang="en-US" sz="1400" b="1" u="none" strike="noStrike" cap="none">
                          <a:solidFill>
                            <a:schemeClr val="dk1"/>
                          </a:solidFill>
                        </a:rPr>
                        <a:t>Methodology</a:t>
                      </a:r>
                      <a:endParaRPr sz="1400" b="1" u="none" strike="noStrike" cap="none"/>
                    </a:p>
                  </a:txBody>
                  <a:tcPr marL="91425" marR="91425" marT="91425" marB="91425" anchor="ctr"/>
                </a:tc>
                <a:tc>
                  <a:txBody>
                    <a:bodyPr/>
                    <a:lstStyle/>
                    <a:p>
                      <a:pPr marL="0" marR="0" lvl="0" indent="0" algn="ctr" rtl="0">
                        <a:lnSpc>
                          <a:spcPct val="100000"/>
                        </a:lnSpc>
                        <a:spcBef>
                          <a:spcPts val="0"/>
                        </a:spcBef>
                        <a:spcAft>
                          <a:spcPts val="0"/>
                        </a:spcAft>
                        <a:buClr>
                          <a:schemeClr val="dk1"/>
                        </a:buClr>
                        <a:buSzPts val="1400"/>
                        <a:buFont typeface="Arial"/>
                        <a:buNone/>
                      </a:pPr>
                      <a:r>
                        <a:rPr lang="en-US" sz="1400" b="1" u="none" strike="noStrike" cap="none">
                          <a:solidFill>
                            <a:schemeClr val="dk1"/>
                          </a:solidFill>
                        </a:rPr>
                        <a:t>Drawbacks</a:t>
                      </a:r>
                      <a:endParaRPr sz="1400" b="1"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t>Proposed Methodology to overcome those drawbacks</a:t>
                      </a:r>
                      <a:endParaRPr sz="1400" b="1" u="none" strike="noStrike" cap="none"/>
                    </a:p>
                  </a:txBody>
                  <a:tcPr marL="91425" marR="91425" marT="91425" marB="91425" anchor="ctr"/>
                </a:tc>
                <a:extLst>
                  <a:ext uri="{0D108BD9-81ED-4DB2-BD59-A6C34878D82A}">
                    <a16:rowId xmlns:a16="http://schemas.microsoft.com/office/drawing/2014/main" val="10000"/>
                  </a:ext>
                </a:extLst>
              </a:tr>
              <a:tr h="4606753">
                <a:tc>
                  <a:txBody>
                    <a:bodyPr/>
                    <a:lstStyle/>
                    <a:p>
                      <a:pPr marL="0" marR="704128" lvl="0" indent="0" algn="just" rtl="0">
                        <a:lnSpc>
                          <a:spcPct val="100000"/>
                        </a:lnSpc>
                        <a:spcBef>
                          <a:spcPts val="0"/>
                        </a:spcBef>
                        <a:spcAft>
                          <a:spcPts val="0"/>
                        </a:spcAft>
                        <a:buClr>
                          <a:srgbClr val="000000"/>
                        </a:buClr>
                        <a:buSzPts val="1400"/>
                        <a:buFont typeface="Arial"/>
                        <a:buNone/>
                      </a:pPr>
                      <a:r>
                        <a:rPr lang="en-US" sz="1700" u="none" strike="noStrike" cap="none" dirty="0"/>
                        <a:t>1.</a:t>
                      </a:r>
                      <a:endParaRPr sz="1700" u="none" strike="noStrike" cap="none" dirty="0"/>
                    </a:p>
                  </a:txBody>
                  <a:tcPr marL="91425" marR="91425" marT="91425" marB="91425"/>
                </a:tc>
                <a:tc>
                  <a:txBody>
                    <a:bodyPr/>
                    <a:lstStyle/>
                    <a:p>
                      <a:pPr marL="0" marR="0" lvl="0" indent="0" algn="just" rtl="0">
                        <a:lnSpc>
                          <a:spcPct val="150000"/>
                        </a:lnSpc>
                        <a:spcBef>
                          <a:spcPts val="0"/>
                        </a:spcBef>
                        <a:spcAft>
                          <a:spcPts val="0"/>
                        </a:spcAft>
                        <a:buClr>
                          <a:schemeClr val="dk1"/>
                        </a:buClr>
                        <a:buSzPts val="2000"/>
                        <a:buFont typeface="Arial"/>
                        <a:buNone/>
                      </a:pPr>
                      <a:r>
                        <a:rPr lang="en-US" sz="1800" u="none" strike="noStrike" cap="none" dirty="0">
                          <a:latin typeface="Times New Roman" panose="02020603050405020304" pitchFamily="18" charset="0"/>
                          <a:cs typeface="Times New Roman" panose="02020603050405020304" pitchFamily="18" charset="0"/>
                        </a:rPr>
                        <a:t>Automated University Timetable Generation using Prediction Algorithm</a:t>
                      </a:r>
                      <a:endParaRPr sz="1800" u="none" strike="noStrike" cap="none"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just" rtl="0">
                        <a:lnSpc>
                          <a:spcPct val="150000"/>
                        </a:lnSpc>
                        <a:spcBef>
                          <a:spcPts val="0"/>
                        </a:spcBef>
                        <a:spcAft>
                          <a:spcPts val="0"/>
                        </a:spcAft>
                        <a:buClr>
                          <a:schemeClr val="dk1"/>
                        </a:buClr>
                        <a:buSzPts val="2000"/>
                        <a:buFont typeface="Arial"/>
                        <a:buNone/>
                      </a:pPr>
                      <a:r>
                        <a:rPr lang="en-US" sz="1800" u="none" strike="noStrike" cap="none" dirty="0">
                          <a:latin typeface="Times New Roman" panose="02020603050405020304" pitchFamily="18" charset="0"/>
                          <a:cs typeface="Times New Roman" panose="02020603050405020304" pitchFamily="18" charset="0"/>
                        </a:rPr>
                        <a:t>Genetic Algorithm (GA):Works well</a:t>
                      </a:r>
                    </a:p>
                    <a:p>
                      <a:pPr marL="0" marR="0" lvl="0" indent="0" algn="just" rtl="0">
                        <a:lnSpc>
                          <a:spcPct val="150000"/>
                        </a:lnSpc>
                        <a:spcBef>
                          <a:spcPts val="0"/>
                        </a:spcBef>
                        <a:spcAft>
                          <a:spcPts val="0"/>
                        </a:spcAft>
                        <a:buClr>
                          <a:schemeClr val="dk1"/>
                        </a:buClr>
                        <a:buSzPts val="2000"/>
                        <a:buFont typeface="Arial"/>
                        <a:buNone/>
                      </a:pPr>
                      <a:r>
                        <a:rPr lang="en-US" sz="1800" u="none" strike="noStrike" cap="none" dirty="0">
                          <a:latin typeface="Times New Roman" panose="02020603050405020304" pitchFamily="18" charset="0"/>
                          <a:cs typeface="Times New Roman" panose="02020603050405020304" pitchFamily="18" charset="0"/>
                        </a:rPr>
                        <a:t>For</a:t>
                      </a:r>
                      <a:r>
                        <a:rPr lang="en-US" sz="1800" u="none" strike="noStrike" cap="none" baseline="0" dirty="0">
                          <a:latin typeface="Times New Roman" panose="02020603050405020304" pitchFamily="18" charset="0"/>
                          <a:cs typeface="Times New Roman" panose="02020603050405020304" pitchFamily="18" charset="0"/>
                        </a:rPr>
                        <a:t> </a:t>
                      </a:r>
                      <a:r>
                        <a:rPr lang="en-US" sz="1800" u="none" strike="noStrike" cap="none" dirty="0">
                          <a:latin typeface="Times New Roman" panose="02020603050405020304" pitchFamily="18" charset="0"/>
                          <a:cs typeface="Times New Roman" panose="02020603050405020304" pitchFamily="18" charset="0"/>
                        </a:rPr>
                        <a:t>local optimization. Uses crossover</a:t>
                      </a:r>
                      <a:r>
                        <a:rPr lang="en-US" sz="1800" u="none" strike="noStrike" cap="none" baseline="0" dirty="0">
                          <a:latin typeface="Times New Roman" panose="02020603050405020304" pitchFamily="18" charset="0"/>
                          <a:cs typeface="Times New Roman" panose="02020603050405020304" pitchFamily="18" charset="0"/>
                        </a:rPr>
                        <a:t> </a:t>
                      </a:r>
                      <a:r>
                        <a:rPr lang="en-US" sz="1800" u="none" strike="noStrike" cap="none" dirty="0">
                          <a:latin typeface="Times New Roman" panose="02020603050405020304" pitchFamily="18" charset="0"/>
                          <a:cs typeface="Times New Roman" panose="02020603050405020304" pitchFamily="18" charset="0"/>
                        </a:rPr>
                        <a:t>&amp; mutation</a:t>
                      </a:r>
                      <a:r>
                        <a:rPr lang="en-US" sz="1800" u="none" strike="noStrike" cap="none" baseline="0" dirty="0">
                          <a:latin typeface="Times New Roman" panose="02020603050405020304" pitchFamily="18" charset="0"/>
                          <a:cs typeface="Times New Roman" panose="02020603050405020304" pitchFamily="18" charset="0"/>
                        </a:rPr>
                        <a:t> </a:t>
                      </a:r>
                      <a:r>
                        <a:rPr lang="en-US" sz="1800" u="none" strike="noStrike" cap="none" dirty="0">
                          <a:latin typeface="Times New Roman" panose="02020603050405020304" pitchFamily="18" charset="0"/>
                          <a:cs typeface="Times New Roman" panose="02020603050405020304" pitchFamily="18" charset="0"/>
                        </a:rPr>
                        <a:t>to improve solutions iteratively.</a:t>
                      </a:r>
                    </a:p>
                    <a:p>
                      <a:pPr marL="0" marR="0" lvl="0" indent="0" algn="just" rtl="0">
                        <a:lnSpc>
                          <a:spcPct val="150000"/>
                        </a:lnSpc>
                        <a:spcBef>
                          <a:spcPts val="0"/>
                        </a:spcBef>
                        <a:spcAft>
                          <a:spcPts val="0"/>
                        </a:spcAft>
                        <a:buClr>
                          <a:schemeClr val="dk1"/>
                        </a:buClr>
                        <a:buSzPts val="2000"/>
                        <a:buFont typeface="Arial"/>
                        <a:buNone/>
                      </a:pPr>
                      <a:endParaRPr sz="1800" u="none" strike="noStrike" cap="none"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just" rtl="0">
                        <a:lnSpc>
                          <a:spcPct val="150000"/>
                        </a:lnSpc>
                        <a:spcBef>
                          <a:spcPts val="0"/>
                        </a:spcBef>
                        <a:spcAft>
                          <a:spcPts val="0"/>
                        </a:spcAft>
                        <a:buClr>
                          <a:schemeClr val="dk1"/>
                        </a:buClr>
                        <a:buSzPts val="2000"/>
                        <a:buFont typeface="Arial"/>
                        <a:buNone/>
                      </a:pPr>
                      <a:r>
                        <a:rPr lang="en-IN" sz="1800" u="none" strike="noStrike" cap="none" dirty="0">
                          <a:latin typeface="Times New Roman" panose="02020603050405020304" pitchFamily="18" charset="0"/>
                          <a:ea typeface="Times New Roman"/>
                          <a:cs typeface="Times New Roman" panose="02020603050405020304" pitchFamily="18" charset="0"/>
                          <a:sym typeface="Times New Roman"/>
                        </a:rPr>
                        <a:t>It</a:t>
                      </a:r>
                      <a:r>
                        <a:rPr lang="en-IN" sz="1800" u="none" strike="noStrike" cap="none" baseline="0" dirty="0">
                          <a:latin typeface="Times New Roman" panose="02020603050405020304" pitchFamily="18" charset="0"/>
                          <a:ea typeface="Times New Roman"/>
                          <a:cs typeface="Times New Roman" panose="02020603050405020304" pitchFamily="18" charset="0"/>
                          <a:sym typeface="Times New Roman"/>
                        </a:rPr>
                        <a:t> can’t generate multiple sections Timetable. </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tc>
                <a:tc>
                  <a:txBody>
                    <a:bodyPr/>
                    <a:lstStyle/>
                    <a:p>
                      <a:pPr marL="0" marR="0" lvl="0" indent="0" algn="just" rtl="0">
                        <a:lnSpc>
                          <a:spcPct val="150000"/>
                        </a:lnSpc>
                        <a:spcBef>
                          <a:spcPts val="0"/>
                        </a:spcBef>
                        <a:spcAft>
                          <a:spcPts val="0"/>
                        </a:spcAft>
                        <a:buClr>
                          <a:schemeClr val="dk1"/>
                        </a:buClr>
                        <a:buSzPts val="2000"/>
                        <a:buFont typeface="Arial"/>
                        <a:buNone/>
                      </a:pPr>
                      <a:r>
                        <a:rPr lang="en-US" sz="18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Over come the multiple</a:t>
                      </a:r>
                      <a:r>
                        <a:rPr lang="en-US" sz="1800" u="none" strike="noStrike" cap="none" baseline="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1800" u="none" strike="noStrike" cap="none" baseline="0">
                          <a:solidFill>
                            <a:schemeClr val="dk1"/>
                          </a:solidFill>
                          <a:latin typeface="Times New Roman" panose="02020603050405020304" pitchFamily="18" charset="0"/>
                          <a:ea typeface="Times New Roman"/>
                          <a:cs typeface="Times New Roman" panose="02020603050405020304" pitchFamily="18" charset="0"/>
                          <a:sym typeface="Times New Roman"/>
                        </a:rPr>
                        <a:t>sections Timetable.</a:t>
                      </a:r>
                      <a:endParaRPr lang="en-US" sz="18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1f83119d95b_0_34"/>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Calibri"/>
                <a:ea typeface="Calibri"/>
                <a:cs typeface="Calibri"/>
                <a:sym typeface="Calibri"/>
              </a:rPr>
              <a:t>EXISTING SYSTEM</a:t>
            </a:r>
            <a:endParaRPr sz="1400" b="0" i="0" u="none" strike="noStrike" cap="none">
              <a:solidFill>
                <a:srgbClr val="000000"/>
              </a:solidFill>
              <a:latin typeface="Arial"/>
              <a:ea typeface="Arial"/>
              <a:cs typeface="Arial"/>
              <a:sym typeface="Arial"/>
            </a:endParaRPr>
          </a:p>
        </p:txBody>
      </p:sp>
      <p:sp>
        <p:nvSpPr>
          <p:cNvPr id="217" name="Google Shape;217;g1f83119d95b_0_34"/>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18" name="Google Shape;218;g1f83119d95b_0_34"/>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219" name="Google Shape;219;g1f83119d95b_0_34"/>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220" name="Google Shape;220;g1f83119d95b_0_34"/>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7</a:t>
            </a:fld>
            <a:endParaRPr sz="1800" b="1">
              <a:solidFill>
                <a:schemeClr val="lt1"/>
              </a:solidFill>
            </a:endParaRPr>
          </a:p>
        </p:txBody>
      </p:sp>
      <p:sp>
        <p:nvSpPr>
          <p:cNvPr id="221" name="Google Shape;221;g1f83119d95b_0_34"/>
          <p:cNvSpPr txBox="1">
            <a:spLocks noGrp="1"/>
          </p:cNvSpPr>
          <p:nvPr>
            <p:ph type="ftr" idx="11"/>
          </p:nvPr>
        </p:nvSpPr>
        <p:spPr>
          <a:xfrm>
            <a:off x="2097575" y="6500825"/>
            <a:ext cx="50133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sp>
        <p:nvSpPr>
          <p:cNvPr id="222" name="Google Shape;222;g1f83119d95b_0_34"/>
          <p:cNvSpPr/>
          <p:nvPr/>
        </p:nvSpPr>
        <p:spPr>
          <a:xfrm>
            <a:off x="709126" y="772161"/>
            <a:ext cx="8028474" cy="5727208"/>
          </a:xfrm>
          <a:prstGeom prst="rect">
            <a:avLst/>
          </a:prstGeom>
          <a:noFill/>
          <a:ln>
            <a:noFill/>
          </a:ln>
        </p:spPr>
        <p:txBody>
          <a:bodyPr spcFirstLastPara="1" wrap="square" lIns="91425" tIns="45700" rIns="91425" bIns="45700" anchor="t" anchorCtr="0">
            <a:noAutofit/>
          </a:bodyPr>
          <a:lstStyle/>
          <a:p>
            <a:r>
              <a:rPr lang="en-US" sz="1800" dirty="0"/>
              <a:t>In most academic institutions, timetable preparation is still carried out </a:t>
            </a:r>
            <a:r>
              <a:rPr lang="en-US" sz="1800" b="1" dirty="0"/>
              <a:t>manually</a:t>
            </a:r>
            <a:r>
              <a:rPr lang="en-US" sz="1800" dirty="0"/>
              <a:t> or using </a:t>
            </a:r>
            <a:r>
              <a:rPr lang="en-US" sz="1800" b="1" dirty="0"/>
              <a:t>basic tools like spreadsheets (Excel)</a:t>
            </a:r>
            <a:r>
              <a:rPr lang="en-US" sz="1800" dirty="0"/>
              <a:t>. The process typically involves department heads or administrators assigning subjects to faculty and scheduling classes for different sections.</a:t>
            </a:r>
          </a:p>
          <a:p>
            <a:r>
              <a:rPr lang="en-US" sz="1800" b="1" dirty="0"/>
              <a:t>Limitations of Existing Systems</a:t>
            </a:r>
          </a:p>
          <a:p>
            <a:pPr marL="342900" indent="-342900">
              <a:buFont typeface="+mj-lt"/>
              <a:buAutoNum type="arabicPeriod"/>
            </a:pPr>
            <a:r>
              <a:rPr lang="en-US" sz="1800" b="1" dirty="0"/>
              <a:t>Manual Scheduling</a:t>
            </a:r>
            <a:endParaRPr lang="en-US" sz="1800" dirty="0"/>
          </a:p>
          <a:p>
            <a:pPr marL="400050" lvl="1" indent="-400050">
              <a:buFont typeface="+mj-lt"/>
              <a:buAutoNum type="romanLcPeriod"/>
            </a:pPr>
            <a:r>
              <a:rPr lang="en-US" sz="1800" dirty="0"/>
              <a:t>Preparation is time-consuming and requires significant effort.</a:t>
            </a:r>
          </a:p>
          <a:p>
            <a:pPr marL="400050" lvl="1" indent="-400050">
              <a:buFont typeface="+mj-lt"/>
              <a:buAutoNum type="romanLcPeriod"/>
            </a:pPr>
            <a:r>
              <a:rPr lang="en-US" sz="1800" dirty="0"/>
              <a:t>High chance of </a:t>
            </a:r>
            <a:r>
              <a:rPr lang="en-US" sz="1800" b="1" dirty="0"/>
              <a:t>errors</a:t>
            </a:r>
            <a:r>
              <a:rPr lang="en-US" sz="1800" dirty="0"/>
              <a:t> such as overlapping classes, wrong faculty assignments, or empty slots.</a:t>
            </a:r>
          </a:p>
          <a:p>
            <a:pPr marL="342900" indent="-342900">
              <a:buFont typeface="+mj-lt"/>
              <a:buAutoNum type="arabicPeriod"/>
            </a:pPr>
            <a:r>
              <a:rPr lang="en-US" sz="1800" b="1" dirty="0"/>
              <a:t>No Automation</a:t>
            </a:r>
            <a:endParaRPr lang="en-US" sz="1800" dirty="0"/>
          </a:p>
          <a:p>
            <a:pPr marL="400050" lvl="1" indent="-400050">
              <a:buFont typeface="+mj-lt"/>
              <a:buAutoNum type="romanLcPeriod"/>
            </a:pPr>
            <a:r>
              <a:rPr lang="en-US" sz="1800" dirty="0"/>
              <a:t>Any change (like a new subject, faculty substitution, or section adjustment) requires </a:t>
            </a:r>
            <a:r>
              <a:rPr lang="en-US" sz="1800" b="1" dirty="0"/>
              <a:t>redoing the timetable</a:t>
            </a:r>
            <a:r>
              <a:rPr lang="en-US" sz="1800" dirty="0"/>
              <a:t> manually.</a:t>
            </a:r>
          </a:p>
          <a:p>
            <a:pPr marL="400050" lvl="1" indent="-400050">
              <a:buFont typeface="+mj-lt"/>
              <a:buAutoNum type="romanLcPeriod"/>
            </a:pPr>
            <a:r>
              <a:rPr lang="en-US" sz="1800" dirty="0"/>
              <a:t>Difficult to accommodate last-minute modifications.</a:t>
            </a:r>
          </a:p>
          <a:p>
            <a:pPr marL="342900" indent="-342900">
              <a:buFont typeface="+mj-lt"/>
              <a:buAutoNum type="arabicPeriod"/>
            </a:pPr>
            <a:r>
              <a:rPr lang="en-US" sz="1800" b="1" dirty="0"/>
              <a:t>Poor Accessibility</a:t>
            </a:r>
            <a:endParaRPr lang="en-US" sz="1800" dirty="0"/>
          </a:p>
          <a:p>
            <a:pPr marL="400050" lvl="1" indent="-400050">
              <a:buFont typeface="+mj-lt"/>
              <a:buAutoNum type="romanLcPeriod"/>
            </a:pPr>
            <a:r>
              <a:rPr lang="en-US" sz="1800" dirty="0"/>
              <a:t>Students and faculty usually receive timetables in </a:t>
            </a:r>
            <a:r>
              <a:rPr lang="en-US" sz="1800" b="1" dirty="0"/>
              <a:t>printed form</a:t>
            </a:r>
            <a:r>
              <a:rPr lang="en-US" sz="1800" dirty="0"/>
              <a:t> or static PDFs.</a:t>
            </a:r>
          </a:p>
          <a:p>
            <a:pPr marL="400050" lvl="1" indent="-400050">
              <a:buFont typeface="+mj-lt"/>
              <a:buAutoNum type="romanLcPeriod"/>
            </a:pPr>
            <a:r>
              <a:rPr lang="en-US" sz="1800" dirty="0"/>
              <a:t>Updates are not instantly reflected, leading to </a:t>
            </a:r>
            <a:r>
              <a:rPr lang="en-US" sz="1800" b="1" dirty="0"/>
              <a:t>miscommunication</a:t>
            </a:r>
            <a:r>
              <a:rPr lang="en-US" sz="1800" dirty="0"/>
              <a:t>.</a:t>
            </a:r>
          </a:p>
          <a:p>
            <a:pPr marL="342900" indent="-342900">
              <a:buFont typeface="+mj-lt"/>
              <a:buAutoNum type="arabicPeriod"/>
            </a:pPr>
            <a:r>
              <a:rPr lang="en-US" sz="1800" b="1" dirty="0"/>
              <a:t>Limited Role-Based Access</a:t>
            </a:r>
            <a:endParaRPr lang="en-US" sz="1800" dirty="0"/>
          </a:p>
          <a:p>
            <a:pPr marL="400050" lvl="1" indent="-400050">
              <a:buFont typeface="+mj-lt"/>
              <a:buAutoNum type="romanLcPeriod"/>
            </a:pPr>
            <a:r>
              <a:rPr lang="en-US" sz="1800" dirty="0"/>
              <a:t>Existing systems often do not distinguish between </a:t>
            </a:r>
            <a:r>
              <a:rPr lang="en-US" sz="1800" b="1" dirty="0"/>
              <a:t>Admin, Faculty, and Student roles</a:t>
            </a:r>
            <a:r>
              <a:rPr lang="en-US" sz="1800" dirty="0"/>
              <a:t>.</a:t>
            </a:r>
          </a:p>
          <a:p>
            <a:pPr marL="400050" lvl="1" indent="-400050">
              <a:buFont typeface="+mj-lt"/>
              <a:buAutoNum type="romanLcPeriod"/>
            </a:pPr>
            <a:r>
              <a:rPr lang="en-US" sz="1800" dirty="0"/>
              <a:t>No personalized dashboard for different users.</a:t>
            </a:r>
          </a:p>
          <a:p>
            <a:endParaRPr lang="en-US" sz="1800" b="1" dirty="0"/>
          </a:p>
          <a:p>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1f83119d95b_0_62"/>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Calibri"/>
                <a:ea typeface="Calibri"/>
                <a:cs typeface="Calibri"/>
                <a:sym typeface="Calibri"/>
              </a:rPr>
              <a:t>PROPOSED SYSTEM</a:t>
            </a:r>
            <a:endParaRPr sz="1400" b="0" i="0" u="none" strike="noStrike" cap="none">
              <a:solidFill>
                <a:srgbClr val="000000"/>
              </a:solidFill>
              <a:latin typeface="Arial"/>
              <a:ea typeface="Arial"/>
              <a:cs typeface="Arial"/>
              <a:sym typeface="Arial"/>
            </a:endParaRPr>
          </a:p>
        </p:txBody>
      </p:sp>
      <p:sp>
        <p:nvSpPr>
          <p:cNvPr id="241" name="Google Shape;241;g1f83119d95b_0_62"/>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42" name="Google Shape;242;g1f83119d95b_0_62"/>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243" name="Google Shape;243;g1f83119d95b_0_62"/>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244" name="Google Shape;244;g1f83119d95b_0_62"/>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8</a:t>
            </a:fld>
            <a:endParaRPr sz="1800" b="1">
              <a:solidFill>
                <a:schemeClr val="lt1"/>
              </a:solidFill>
            </a:endParaRPr>
          </a:p>
        </p:txBody>
      </p:sp>
      <p:sp>
        <p:nvSpPr>
          <p:cNvPr id="245" name="Google Shape;245;g1f83119d95b_0_62"/>
          <p:cNvSpPr txBox="1">
            <a:spLocks noGrp="1"/>
          </p:cNvSpPr>
          <p:nvPr>
            <p:ph type="ftr" idx="11"/>
          </p:nvPr>
        </p:nvSpPr>
        <p:spPr>
          <a:xfrm>
            <a:off x="2097575" y="6500825"/>
            <a:ext cx="50133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sp>
        <p:nvSpPr>
          <p:cNvPr id="246" name="Google Shape;246;g1f83119d95b_0_62"/>
          <p:cNvSpPr/>
          <p:nvPr/>
        </p:nvSpPr>
        <p:spPr>
          <a:xfrm>
            <a:off x="709127" y="1237671"/>
            <a:ext cx="8149200" cy="5333148"/>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The proposed system is a </a:t>
            </a:r>
            <a:r>
              <a:rPr lang="en-US" sz="2000" b="1" dirty="0"/>
              <a:t>role-based automatic timetable generator</a:t>
            </a:r>
            <a:r>
              <a:rPr lang="en-US" sz="2000" dirty="0"/>
              <a:t>:</a:t>
            </a:r>
          </a:p>
          <a:p>
            <a:r>
              <a:rPr lang="en-US" sz="2000" b="1" dirty="0"/>
              <a:t>Admin</a:t>
            </a:r>
            <a:r>
              <a:rPr lang="en-US" sz="2000" dirty="0"/>
              <a:t>:</a:t>
            </a:r>
          </a:p>
          <a:p>
            <a:pPr lvl="1"/>
            <a:r>
              <a:rPr lang="en-US" sz="2000" dirty="0"/>
              <a:t>Controls the system.</a:t>
            </a:r>
          </a:p>
          <a:p>
            <a:pPr lvl="1"/>
            <a:r>
              <a:rPr lang="en-US" sz="2000" dirty="0"/>
              <a:t>Selects faculty, subject, and section.</a:t>
            </a:r>
          </a:p>
          <a:p>
            <a:pPr lvl="1"/>
            <a:r>
              <a:rPr lang="en-US" sz="2000" dirty="0"/>
              <a:t>Generates timetable automatically.</a:t>
            </a:r>
          </a:p>
          <a:p>
            <a:pPr lvl="1"/>
            <a:r>
              <a:rPr lang="en-US" sz="2000" dirty="0"/>
              <a:t>Stores timetable in a database.</a:t>
            </a:r>
          </a:p>
          <a:p>
            <a:r>
              <a:rPr lang="en-US" sz="2000" b="1" dirty="0"/>
              <a:t>Faculty</a:t>
            </a:r>
            <a:r>
              <a:rPr lang="en-US" sz="2000" dirty="0"/>
              <a:t>:</a:t>
            </a:r>
          </a:p>
          <a:p>
            <a:pPr lvl="1"/>
            <a:r>
              <a:rPr lang="en-US" sz="2000" dirty="0"/>
              <a:t>Views personal teaching timetable.</a:t>
            </a:r>
          </a:p>
          <a:p>
            <a:pPr lvl="1"/>
            <a:r>
              <a:rPr lang="en-US" sz="2000" dirty="0"/>
              <a:t>Downloads schedules for reference.</a:t>
            </a:r>
          </a:p>
          <a:p>
            <a:r>
              <a:rPr lang="en-US" sz="2000" b="1" dirty="0"/>
              <a:t>Student</a:t>
            </a:r>
            <a:r>
              <a:rPr lang="en-US" sz="2000" dirty="0"/>
              <a:t>:</a:t>
            </a:r>
          </a:p>
          <a:p>
            <a:pPr lvl="1"/>
            <a:r>
              <a:rPr lang="en-US" sz="2000" dirty="0"/>
              <a:t>Views their class timetable (section-wise/day-wise).</a:t>
            </a:r>
          </a:p>
          <a:p>
            <a:pPr lvl="1"/>
            <a:r>
              <a:rPr lang="en-US" sz="2000" dirty="0"/>
              <a:t>Downloads schedule for offline use.</a:t>
            </a: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1f83119d95b_0_76"/>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Calibri"/>
                <a:ea typeface="Calibri"/>
                <a:cs typeface="Calibri"/>
                <a:sym typeface="Calibri"/>
              </a:rPr>
              <a:t>PROPOSED SYSTEM</a:t>
            </a:r>
            <a:endParaRPr sz="1400" b="0" i="0" u="none" strike="noStrike" cap="none">
              <a:solidFill>
                <a:srgbClr val="000000"/>
              </a:solidFill>
              <a:latin typeface="Arial"/>
              <a:ea typeface="Arial"/>
              <a:cs typeface="Arial"/>
              <a:sym typeface="Arial"/>
            </a:endParaRPr>
          </a:p>
        </p:txBody>
      </p:sp>
      <p:sp>
        <p:nvSpPr>
          <p:cNvPr id="253" name="Google Shape;253;g1f83119d95b_0_76"/>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54" name="Google Shape;254;g1f83119d95b_0_76"/>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255" name="Google Shape;255;g1f83119d95b_0_76"/>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256" name="Google Shape;256;g1f83119d95b_0_76"/>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9</a:t>
            </a:fld>
            <a:endParaRPr sz="1800" b="1">
              <a:solidFill>
                <a:schemeClr val="lt1"/>
              </a:solidFill>
            </a:endParaRPr>
          </a:p>
        </p:txBody>
      </p:sp>
      <p:sp>
        <p:nvSpPr>
          <p:cNvPr id="257" name="Google Shape;257;g1f83119d95b_0_76"/>
          <p:cNvSpPr txBox="1">
            <a:spLocks noGrp="1"/>
          </p:cNvSpPr>
          <p:nvPr>
            <p:ph type="ftr" idx="11"/>
          </p:nvPr>
        </p:nvSpPr>
        <p:spPr>
          <a:xfrm>
            <a:off x="2097575" y="6500825"/>
            <a:ext cx="50133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sp>
        <p:nvSpPr>
          <p:cNvPr id="258" name="Google Shape;258;g1f83119d95b_0_76"/>
          <p:cNvSpPr/>
          <p:nvPr/>
        </p:nvSpPr>
        <p:spPr>
          <a:xfrm>
            <a:off x="529625" y="1387948"/>
            <a:ext cx="8149200" cy="4653600"/>
          </a:xfrm>
          <a:prstGeom prst="rect">
            <a:avLst/>
          </a:prstGeom>
          <a:noFill/>
          <a:ln>
            <a:noFill/>
          </a:ln>
        </p:spPr>
        <p:txBody>
          <a:bodyPr spcFirstLastPara="1" wrap="square" lIns="91425" tIns="45700" rIns="91425" bIns="45700" anchor="t" anchorCtr="0">
            <a:noAutofit/>
          </a:bodyPr>
          <a:lstStyle/>
          <a:p>
            <a:pPr marL="457200" marR="231466" lvl="0" indent="0" algn="just" rtl="0">
              <a:lnSpc>
                <a:spcPct val="96158"/>
              </a:lnSpc>
              <a:spcBef>
                <a:spcPts val="1200"/>
              </a:spcBef>
              <a:spcAft>
                <a:spcPts val="0"/>
              </a:spcAft>
              <a:buClr>
                <a:srgbClr val="000000"/>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D44DE4B4-0597-56BE-5158-F2C2ADB11BB4}"/>
              </a:ext>
            </a:extLst>
          </p:cNvPr>
          <p:cNvSpPr txBox="1"/>
          <p:nvPr/>
        </p:nvSpPr>
        <p:spPr>
          <a:xfrm>
            <a:off x="314960" y="1666240"/>
            <a:ext cx="8299415" cy="1938992"/>
          </a:xfrm>
          <a:prstGeom prst="rect">
            <a:avLst/>
          </a:prstGeom>
          <a:noFill/>
        </p:spPr>
        <p:txBody>
          <a:bodyPr wrap="square">
            <a:spAutoFit/>
          </a:bodyPr>
          <a:lstStyle/>
          <a:p>
            <a:r>
              <a:rPr lang="en-US" sz="2000" b="1" dirty="0"/>
              <a:t>Key Features</a:t>
            </a:r>
            <a:r>
              <a:rPr lang="en-US" sz="2000" dirty="0"/>
              <a:t>:</a:t>
            </a:r>
          </a:p>
          <a:p>
            <a:r>
              <a:rPr lang="en-US" sz="2000" dirty="0"/>
              <a:t>Automatic timetable generation.</a:t>
            </a:r>
          </a:p>
          <a:p>
            <a:r>
              <a:rPr lang="en-US" sz="2000" dirty="0"/>
              <a:t>Role-based access (Admin, Faculty, Student).</a:t>
            </a:r>
          </a:p>
          <a:p>
            <a:r>
              <a:rPr lang="en-US" sz="2000" dirty="0"/>
              <a:t>Database storage for quick retrieval.</a:t>
            </a:r>
          </a:p>
          <a:p>
            <a:r>
              <a:rPr lang="en-US" sz="2000" dirty="0"/>
              <a:t>Downloadable schedules.</a:t>
            </a:r>
          </a:p>
          <a:p>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g1e8b0b8a74a_0_32"/>
          <p:cNvSpPr/>
          <p:nvPr/>
        </p:nvSpPr>
        <p:spPr>
          <a:xfrm>
            <a:off x="926027" y="18159"/>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Calibri"/>
                <a:ea typeface="Calibri"/>
                <a:cs typeface="Calibri"/>
                <a:sym typeface="Calibri"/>
              </a:rPr>
              <a:t>PROPOSED METHODOLOGY</a:t>
            </a:r>
            <a:endParaRPr sz="1400" b="0" i="0" u="none" strike="noStrike" cap="none">
              <a:solidFill>
                <a:srgbClr val="000000"/>
              </a:solidFill>
              <a:latin typeface="Arial"/>
              <a:ea typeface="Arial"/>
              <a:cs typeface="Arial"/>
              <a:sym typeface="Arial"/>
            </a:endParaRPr>
          </a:p>
        </p:txBody>
      </p:sp>
      <p:sp>
        <p:nvSpPr>
          <p:cNvPr id="326" name="Google Shape;326;g1e8b0b8a74a_0_32"/>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27" name="Google Shape;327;g1e8b0b8a74a_0_32"/>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28" name="Google Shape;328;g1e8b0b8a74a_0_32"/>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29" name="Google Shape;329;g1e8b0b8a74a_0_32"/>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10</a:t>
            </a:fld>
            <a:endParaRPr sz="1800" b="1">
              <a:solidFill>
                <a:schemeClr val="lt1"/>
              </a:solidFill>
            </a:endParaRPr>
          </a:p>
        </p:txBody>
      </p:sp>
      <p:sp>
        <p:nvSpPr>
          <p:cNvPr id="330" name="Google Shape;330;g1e8b0b8a74a_0_32"/>
          <p:cNvSpPr txBox="1">
            <a:spLocks noGrp="1"/>
          </p:cNvSpPr>
          <p:nvPr>
            <p:ph type="ftr" idx="11"/>
          </p:nvPr>
        </p:nvSpPr>
        <p:spPr>
          <a:xfrm>
            <a:off x="2097575" y="6500825"/>
            <a:ext cx="50133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sp>
        <p:nvSpPr>
          <p:cNvPr id="331" name="Google Shape;331;g1e8b0b8a74a_0_32"/>
          <p:cNvSpPr/>
          <p:nvPr/>
        </p:nvSpPr>
        <p:spPr>
          <a:xfrm>
            <a:off x="709127" y="1237671"/>
            <a:ext cx="8149200" cy="4653600"/>
          </a:xfrm>
          <a:prstGeom prst="rect">
            <a:avLst/>
          </a:prstGeom>
          <a:noFill/>
          <a:ln>
            <a:noFill/>
          </a:ln>
        </p:spPr>
        <p:txBody>
          <a:bodyPr spcFirstLastPara="1" wrap="square" lIns="91425" tIns="45700" rIns="91425" bIns="45700" anchor="t" anchorCtr="0">
            <a:noAutofit/>
          </a:bodyPr>
          <a:lstStyle/>
          <a:p>
            <a:pPr marL="0" marR="630631" lvl="0" indent="0" algn="just" rtl="0">
              <a:lnSpc>
                <a:spcPct val="191624"/>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2062" y="862012"/>
            <a:ext cx="6619875" cy="51339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1b8890723e1_0_61"/>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i="0" u="none" strike="noStrike" cap="none">
                <a:solidFill>
                  <a:schemeClr val="lt1"/>
                </a:solidFill>
                <a:latin typeface="Calibri"/>
                <a:ea typeface="Calibri"/>
                <a:cs typeface="Calibri"/>
                <a:sym typeface="Calibri"/>
              </a:rPr>
              <a:t>CONCLUSION</a:t>
            </a:r>
            <a:endParaRPr sz="1400" b="0" i="0" u="none" strike="noStrike" cap="none">
              <a:solidFill>
                <a:srgbClr val="000000"/>
              </a:solidFill>
              <a:latin typeface="Arial"/>
              <a:ea typeface="Arial"/>
              <a:cs typeface="Arial"/>
              <a:sym typeface="Arial"/>
            </a:endParaRPr>
          </a:p>
        </p:txBody>
      </p:sp>
      <p:sp>
        <p:nvSpPr>
          <p:cNvPr id="338" name="Google Shape;338;g1b8890723e1_0_61"/>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39" name="Google Shape;339;g1b8890723e1_0_6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40" name="Google Shape;340;g1b8890723e1_0_61"/>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01</a:t>
            </a:r>
            <a:r>
              <a:rPr lang="en-US" sz="1800" b="1" i="0" u="none" strike="noStrike" cap="none" dirty="0">
                <a:solidFill>
                  <a:schemeClr val="lt1"/>
                </a:solidFill>
                <a:latin typeface="Calibri"/>
                <a:ea typeface="Calibri"/>
                <a:cs typeface="Calibri"/>
                <a:sym typeface="Calibri"/>
              </a:rPr>
              <a:t>/09/2025</a:t>
            </a:r>
            <a:endParaRPr sz="1400" b="0" i="0" u="none" strike="noStrike" cap="none" dirty="0">
              <a:solidFill>
                <a:srgbClr val="000000"/>
              </a:solidFill>
              <a:latin typeface="Arial"/>
              <a:ea typeface="Arial"/>
              <a:cs typeface="Arial"/>
              <a:sym typeface="Arial"/>
            </a:endParaRPr>
          </a:p>
        </p:txBody>
      </p:sp>
      <p:sp>
        <p:nvSpPr>
          <p:cNvPr id="341" name="Google Shape;341;g1b8890723e1_0_61"/>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11</a:t>
            </a:fld>
            <a:endParaRPr sz="1800" b="1" i="0" u="none" strike="noStrike" cap="none">
              <a:solidFill>
                <a:schemeClr val="lt1"/>
              </a:solidFill>
              <a:latin typeface="Calibri"/>
              <a:ea typeface="Calibri"/>
              <a:cs typeface="Calibri"/>
              <a:sym typeface="Calibri"/>
            </a:endParaRPr>
          </a:p>
        </p:txBody>
      </p:sp>
      <p:sp>
        <p:nvSpPr>
          <p:cNvPr id="342" name="Google Shape;342;g1b8890723e1_0_61"/>
          <p:cNvSpPr txBox="1"/>
          <p:nvPr/>
        </p:nvSpPr>
        <p:spPr>
          <a:xfrm>
            <a:off x="1928794" y="6500834"/>
            <a:ext cx="50007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Department of Computer Science &amp; Engineering</a:t>
            </a:r>
            <a:endParaRPr sz="1800" b="1" i="0" u="none" strike="noStrike" cap="none">
              <a:solidFill>
                <a:schemeClr val="lt1"/>
              </a:solidFill>
              <a:latin typeface="Calibri"/>
              <a:ea typeface="Calibri"/>
              <a:cs typeface="Calibri"/>
              <a:sym typeface="Calibri"/>
            </a:endParaRPr>
          </a:p>
        </p:txBody>
      </p:sp>
      <p:sp>
        <p:nvSpPr>
          <p:cNvPr id="343" name="Google Shape;343;g1b8890723e1_0_61"/>
          <p:cNvSpPr/>
          <p:nvPr/>
        </p:nvSpPr>
        <p:spPr>
          <a:xfrm>
            <a:off x="681125" y="1181675"/>
            <a:ext cx="8057100" cy="4653600"/>
          </a:xfrm>
          <a:prstGeom prst="rect">
            <a:avLst/>
          </a:prstGeom>
          <a:noFill/>
          <a:ln>
            <a:noFill/>
          </a:ln>
        </p:spPr>
        <p:txBody>
          <a:bodyPr spcFirstLastPara="1" wrap="square" lIns="91425" tIns="45700" rIns="91425" bIns="45700" anchor="t" anchorCtr="0">
            <a:noAutofit/>
          </a:bodyPr>
          <a:lstStyle/>
          <a:p>
            <a:pPr marL="268097" marR="153642" lvl="0" indent="-632" algn="l" rtl="0">
              <a:lnSpc>
                <a:spcPct val="96246"/>
              </a:lnSpc>
              <a:spcBef>
                <a:spcPts val="0"/>
              </a:spcBef>
              <a:spcAft>
                <a:spcPts val="0"/>
              </a:spcAft>
              <a:buClr>
                <a:schemeClr val="dk1"/>
              </a:buClr>
              <a:buSzPts val="1100"/>
              <a:buFont typeface="Arial"/>
              <a:buNone/>
            </a:pPr>
            <a:r>
              <a:rPr lang="en-US" sz="996" b="0" i="0" u="none" strike="noStrike" cap="none" dirty="0">
                <a:solidFill>
                  <a:schemeClr val="dk1"/>
                </a:solidFill>
                <a:latin typeface="Times New Roman"/>
                <a:ea typeface="Times New Roman"/>
                <a:cs typeface="Times New Roman"/>
                <a:sym typeface="Times New Roman"/>
              </a:rPr>
              <a:t> 		</a:t>
            </a:r>
            <a:endParaRPr sz="996" b="0" i="0" u="none" strike="noStrike" cap="none" dirty="0">
              <a:solidFill>
                <a:schemeClr val="dk1"/>
              </a:solidFill>
              <a:latin typeface="Times New Roman"/>
              <a:ea typeface="Times New Roman"/>
              <a:cs typeface="Times New Roman"/>
              <a:sym typeface="Times New Roman"/>
            </a:endParaRPr>
          </a:p>
          <a:p>
            <a:pPr marL="268097" marR="153642" lvl="0" indent="-632" algn="l" rtl="0">
              <a:lnSpc>
                <a:spcPct val="96246"/>
              </a:lnSpc>
              <a:spcBef>
                <a:spcPts val="0"/>
              </a:spcBef>
              <a:spcAft>
                <a:spcPts val="0"/>
              </a:spcAft>
              <a:buClr>
                <a:schemeClr val="dk1"/>
              </a:buClr>
              <a:buSzPts val="1100"/>
              <a:buFont typeface="Arial"/>
              <a:buNone/>
            </a:pPr>
            <a:endParaRPr sz="2000" b="0" i="0" u="none" strike="noStrike" cap="none" dirty="0">
              <a:solidFill>
                <a:schemeClr val="dk1"/>
              </a:solidFill>
              <a:latin typeface="Times New Roman"/>
              <a:ea typeface="Times New Roman"/>
              <a:cs typeface="Times New Roman"/>
              <a:sym typeface="Times New Roman"/>
            </a:endParaRPr>
          </a:p>
        </p:txBody>
      </p:sp>
      <p:sp>
        <p:nvSpPr>
          <p:cNvPr id="2" name="Rectangle 1"/>
          <p:cNvSpPr/>
          <p:nvPr/>
        </p:nvSpPr>
        <p:spPr>
          <a:xfrm>
            <a:off x="762000" y="1270000"/>
            <a:ext cx="8096280" cy="2246769"/>
          </a:xfrm>
          <a:prstGeom prst="rect">
            <a:avLst/>
          </a:prstGeom>
        </p:spPr>
        <p:txBody>
          <a:bodyPr wrap="square">
            <a:spAutoFit/>
          </a:bodyPr>
          <a:lstStyle/>
          <a:p>
            <a:r>
              <a:rPr lang="en-US" sz="2000" dirty="0"/>
              <a:t>The Automatic Timetable Generator reduces manual workload and minimizes scheduling errors in academic institutions. By providing role-based dashboards, it ensures that Admins manage timetables effectively, while Faculty and Students can easily access their respective schedules. The system is scalable, reliable, and can be extended to include features like </a:t>
            </a:r>
            <a:r>
              <a:rPr lang="en-US" sz="2000" b="1" dirty="0"/>
              <a:t>real-time notifications</a:t>
            </a:r>
            <a:r>
              <a:rPr lang="en-US" sz="2000" dirty="0"/>
              <a:t>, </a:t>
            </a:r>
            <a:r>
              <a:rPr lang="en-US" sz="2000" b="1" dirty="0"/>
              <a:t>exam timetables</a:t>
            </a:r>
            <a:r>
              <a:rPr lang="en-US" sz="2000" dirty="0"/>
              <a:t>, and </a:t>
            </a:r>
            <a:r>
              <a:rPr lang="en-US" sz="2000" b="1" dirty="0"/>
              <a:t>mobile application support</a:t>
            </a:r>
            <a:r>
              <a:rPr lang="en-US" sz="2000" dirty="0"/>
              <a:t> in the future.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1c0653c3a5e_0_0"/>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i="0" u="none" strike="noStrike" cap="none">
                <a:solidFill>
                  <a:schemeClr val="lt1"/>
                </a:solidFill>
                <a:latin typeface="Calibri"/>
                <a:ea typeface="Calibri"/>
                <a:cs typeface="Calibri"/>
                <a:sym typeface="Calibri"/>
              </a:rPr>
              <a:t>REFERENCES</a:t>
            </a:r>
            <a:endParaRPr sz="1400" b="0" i="0" u="none" strike="noStrike" cap="none">
              <a:solidFill>
                <a:srgbClr val="000000"/>
              </a:solidFill>
              <a:latin typeface="Arial"/>
              <a:ea typeface="Arial"/>
              <a:cs typeface="Arial"/>
              <a:sym typeface="Arial"/>
            </a:endParaRPr>
          </a:p>
        </p:txBody>
      </p:sp>
      <p:sp>
        <p:nvSpPr>
          <p:cNvPr id="349" name="Google Shape;349;g1c0653c3a5e_0_0"/>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50" name="Google Shape;350;g1c0653c3a5e_0_0"/>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51" name="Google Shape;351;g1c0653c3a5e_0_0"/>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01</a:t>
            </a:r>
            <a:r>
              <a:rPr lang="en-US" sz="1800" b="1" i="0" u="none" strike="noStrike" cap="none" dirty="0">
                <a:solidFill>
                  <a:schemeClr val="lt1"/>
                </a:solidFill>
                <a:latin typeface="Calibri"/>
                <a:ea typeface="Calibri"/>
                <a:cs typeface="Calibri"/>
                <a:sym typeface="Calibri"/>
              </a:rPr>
              <a:t>/09/2025</a:t>
            </a:r>
            <a:endParaRPr sz="1400" b="0" i="0" u="none" strike="noStrike" cap="none" dirty="0">
              <a:solidFill>
                <a:srgbClr val="000000"/>
              </a:solidFill>
              <a:latin typeface="Arial"/>
              <a:ea typeface="Arial"/>
              <a:cs typeface="Arial"/>
              <a:sym typeface="Arial"/>
            </a:endParaRPr>
          </a:p>
        </p:txBody>
      </p:sp>
      <p:sp>
        <p:nvSpPr>
          <p:cNvPr id="352" name="Google Shape;352;g1c0653c3a5e_0_0"/>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12</a:t>
            </a:fld>
            <a:endParaRPr sz="1800" b="1" i="0" u="none" strike="noStrike" cap="none">
              <a:solidFill>
                <a:schemeClr val="lt1"/>
              </a:solidFill>
              <a:latin typeface="Calibri"/>
              <a:ea typeface="Calibri"/>
              <a:cs typeface="Calibri"/>
              <a:sym typeface="Calibri"/>
            </a:endParaRPr>
          </a:p>
        </p:txBody>
      </p:sp>
      <p:sp>
        <p:nvSpPr>
          <p:cNvPr id="353" name="Google Shape;353;g1c0653c3a5e_0_0"/>
          <p:cNvSpPr txBox="1"/>
          <p:nvPr/>
        </p:nvSpPr>
        <p:spPr>
          <a:xfrm>
            <a:off x="1928794" y="6500834"/>
            <a:ext cx="50007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Department of Computer Science &amp; Engineering</a:t>
            </a:r>
            <a:endParaRPr sz="1800" b="1" i="0" u="none" strike="noStrike" cap="none">
              <a:solidFill>
                <a:schemeClr val="lt1"/>
              </a:solidFill>
              <a:latin typeface="Calibri"/>
              <a:ea typeface="Calibri"/>
              <a:cs typeface="Calibri"/>
              <a:sym typeface="Calibri"/>
            </a:endParaRPr>
          </a:p>
        </p:txBody>
      </p:sp>
      <p:sp>
        <p:nvSpPr>
          <p:cNvPr id="354" name="Google Shape;354;g1c0653c3a5e_0_0"/>
          <p:cNvSpPr/>
          <p:nvPr/>
        </p:nvSpPr>
        <p:spPr>
          <a:xfrm>
            <a:off x="681125" y="1181675"/>
            <a:ext cx="8057100" cy="4653600"/>
          </a:xfrm>
          <a:prstGeom prst="rect">
            <a:avLst/>
          </a:prstGeom>
          <a:noFill/>
          <a:ln>
            <a:noFill/>
          </a:ln>
        </p:spPr>
        <p:txBody>
          <a:bodyPr spcFirstLastPara="1" wrap="square" lIns="91425" tIns="45700" rIns="91425" bIns="45700" anchor="t" anchorCtr="0">
            <a:noAutofit/>
          </a:bodyPr>
          <a:lstStyle/>
          <a:p>
            <a:pPr marL="101346" marR="61847" lvl="0" algn="just">
              <a:lnSpc>
                <a:spcPct val="94904"/>
              </a:lnSpc>
              <a:buClr>
                <a:schemeClr val="dk1"/>
              </a:buClr>
              <a:buSzPts val="2004"/>
            </a:pPr>
            <a:endParaRPr lang="en-US" sz="2000" dirty="0"/>
          </a:p>
          <a:p>
            <a:pPr marL="101346" marR="61847" lvl="0" algn="just">
              <a:lnSpc>
                <a:spcPct val="94904"/>
              </a:lnSpc>
              <a:buClr>
                <a:schemeClr val="dk1"/>
              </a:buClr>
              <a:buSzPts val="2004"/>
            </a:pPr>
            <a:endParaRPr lang="en-US" sz="2000" dirty="0"/>
          </a:p>
          <a:p>
            <a:pPr marL="444246" marR="61847" lvl="0" indent="-342900">
              <a:lnSpc>
                <a:spcPct val="94904"/>
              </a:lnSpc>
              <a:buClr>
                <a:schemeClr val="dk1"/>
              </a:buClr>
              <a:buSzPts val="2004"/>
              <a:buFont typeface="Wingdings" panose="05000000000000000000" pitchFamily="2" charset="2"/>
              <a:buChar char="v"/>
            </a:pPr>
            <a:r>
              <a:rPr lang="en-US" sz="2000" dirty="0"/>
              <a:t>Wong, T. et al. (2019). </a:t>
            </a:r>
            <a:r>
              <a:rPr lang="en-US" sz="2000" i="1" dirty="0"/>
              <a:t>Automated Timetable Generation Using Constraint Satisfaction and Genetic Algorithms</a:t>
            </a:r>
            <a:r>
              <a:rPr lang="en-US" sz="2000" dirty="0"/>
              <a:t>. Journal of Computer Applications.</a:t>
            </a:r>
          </a:p>
          <a:p>
            <a:pPr marL="444246" marR="61847" lvl="0" indent="-342900">
              <a:lnSpc>
                <a:spcPct val="94904"/>
              </a:lnSpc>
              <a:buClr>
                <a:schemeClr val="dk1"/>
              </a:buClr>
              <a:buSzPts val="2004"/>
              <a:buFont typeface="Wingdings" panose="05000000000000000000" pitchFamily="2" charset="2"/>
              <a:buChar char="v"/>
            </a:pPr>
            <a:endParaRPr lang="en-US" sz="2000" dirty="0"/>
          </a:p>
          <a:p>
            <a:pPr marL="444246" marR="61847" lvl="0" indent="-342900">
              <a:lnSpc>
                <a:spcPct val="94904"/>
              </a:lnSpc>
              <a:buClr>
                <a:schemeClr val="dk1"/>
              </a:buClr>
              <a:buSzPts val="2004"/>
              <a:buFont typeface="Wingdings" panose="05000000000000000000" pitchFamily="2" charset="2"/>
              <a:buChar char="v"/>
            </a:pPr>
            <a:r>
              <a:rPr lang="en-US" sz="2000" dirty="0"/>
              <a:t>Abdullah, S., &amp; </a:t>
            </a:r>
            <a:r>
              <a:rPr lang="en-US" sz="2000" dirty="0" err="1"/>
              <a:t>Turabieh</a:t>
            </a:r>
            <a:r>
              <a:rPr lang="en-US" sz="2000" dirty="0"/>
              <a:t>, H. (2012). </a:t>
            </a:r>
            <a:r>
              <a:rPr lang="en-US" sz="2000" i="1" dirty="0"/>
              <a:t>Generating university course timetable using genetic algorithms and local search</a:t>
            </a:r>
            <a:r>
              <a:rPr lang="en-US" sz="2000" dirty="0"/>
              <a:t>. Proceedings of the International Conference on Computer Science.</a:t>
            </a:r>
          </a:p>
          <a:p>
            <a:pPr marL="444246" marR="61847" lvl="0" indent="-342900">
              <a:lnSpc>
                <a:spcPct val="94904"/>
              </a:lnSpc>
              <a:buClr>
                <a:schemeClr val="dk1"/>
              </a:buClr>
              <a:buSzPts val="2004"/>
              <a:buFont typeface="Wingdings" panose="05000000000000000000" pitchFamily="2" charset="2"/>
              <a:buChar char="v"/>
            </a:pPr>
            <a:endParaRPr lang="en-IN" sz="2000" b="0" i="0" u="none" strike="noStrike" cap="none" dirty="0">
              <a:solidFill>
                <a:schemeClr val="dk1"/>
              </a:solidFill>
              <a:latin typeface="Times New Roman"/>
              <a:ea typeface="Times New Roman"/>
              <a:cs typeface="Times New Roman"/>
              <a:sym typeface="Times New Roman"/>
            </a:endParaRPr>
          </a:p>
          <a:p>
            <a:pPr marL="444246" marR="61847" lvl="0" indent="-342900">
              <a:lnSpc>
                <a:spcPct val="94904"/>
              </a:lnSpc>
              <a:buClr>
                <a:schemeClr val="dk1"/>
              </a:buClr>
              <a:buSzPts val="2004"/>
              <a:buFont typeface="Wingdings" panose="05000000000000000000" pitchFamily="2" charset="2"/>
              <a:buChar char="v"/>
            </a:pPr>
            <a:r>
              <a:rPr lang="en-US" sz="2000" dirty="0"/>
              <a:t>Kumar, R., &amp; Singh, V. (2018). </a:t>
            </a:r>
            <a:r>
              <a:rPr lang="en-US" sz="2000" i="1" dirty="0"/>
              <a:t>Web-based timetable management system for universities</a:t>
            </a:r>
            <a:r>
              <a:rPr lang="en-US" sz="2000" dirty="0"/>
              <a:t>. International Journal of Computer Applications, 181(3).</a:t>
            </a:r>
            <a:endParaRPr sz="20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1"/>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dirty="0">
                <a:solidFill>
                  <a:schemeClr val="lt1"/>
                </a:solidFill>
                <a:latin typeface="Calibri"/>
                <a:ea typeface="Calibri"/>
                <a:cs typeface="Calibri"/>
                <a:sym typeface="Calibri"/>
              </a:rPr>
              <a:t>Result : Login page</a:t>
            </a:r>
          </a:p>
        </p:txBody>
      </p:sp>
      <p:sp>
        <p:nvSpPr>
          <p:cNvPr id="361" name="Google Shape;361;p21"/>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64" name="Google Shape;364;p21"/>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13</a:t>
            </a:fld>
            <a:endParaRPr sz="1800" b="1">
              <a:solidFill>
                <a:schemeClr val="lt1"/>
              </a:solidFill>
            </a:endParaRPr>
          </a:p>
        </p:txBody>
      </p:sp>
      <p:sp>
        <p:nvSpPr>
          <p:cNvPr id="365" name="Google Shape;365;p21"/>
          <p:cNvSpPr txBox="1">
            <a:spLocks noGrp="1"/>
          </p:cNvSpPr>
          <p:nvPr>
            <p:ph type="ftr" idx="11"/>
          </p:nvPr>
        </p:nvSpPr>
        <p:spPr>
          <a:xfrm>
            <a:off x="1928800" y="6500825"/>
            <a:ext cx="5182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2333" t="8484" r="2111" b="-1557"/>
          <a:stretch/>
        </p:blipFill>
        <p:spPr>
          <a:xfrm>
            <a:off x="213360" y="1412240"/>
            <a:ext cx="8737600" cy="4521200"/>
          </a:xfrm>
          <a:prstGeom prst="rect">
            <a:avLst/>
          </a:prstGeom>
        </p:spPr>
      </p:pic>
    </p:spTree>
    <p:extLst>
      <p:ext uri="{BB962C8B-B14F-4D97-AF65-F5344CB8AC3E}">
        <p14:creationId xmlns:p14="http://schemas.microsoft.com/office/powerpoint/2010/main" val="3394848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1"/>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dirty="0">
                <a:solidFill>
                  <a:schemeClr val="lt1"/>
                </a:solidFill>
                <a:latin typeface="Calibri"/>
                <a:ea typeface="Calibri"/>
                <a:cs typeface="Calibri"/>
                <a:sym typeface="Calibri"/>
              </a:rPr>
              <a:t>Admin page</a:t>
            </a:r>
            <a:endParaRPr sz="3600" b="1" i="0" u="none" strike="noStrike" cap="none" dirty="0">
              <a:solidFill>
                <a:schemeClr val="lt1"/>
              </a:solidFill>
              <a:latin typeface="Calibri"/>
              <a:ea typeface="Calibri"/>
              <a:cs typeface="Calibri"/>
              <a:sym typeface="Calibri"/>
            </a:endParaRPr>
          </a:p>
        </p:txBody>
      </p:sp>
      <p:sp>
        <p:nvSpPr>
          <p:cNvPr id="361" name="Google Shape;361;p21"/>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64" name="Google Shape;364;p21"/>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14</a:t>
            </a:fld>
            <a:endParaRPr sz="1800" b="1">
              <a:solidFill>
                <a:schemeClr val="lt1"/>
              </a:solidFill>
            </a:endParaRPr>
          </a:p>
        </p:txBody>
      </p:sp>
      <p:sp>
        <p:nvSpPr>
          <p:cNvPr id="365" name="Google Shape;365;p21"/>
          <p:cNvSpPr txBox="1">
            <a:spLocks noGrp="1"/>
          </p:cNvSpPr>
          <p:nvPr>
            <p:ph type="ftr" idx="11"/>
          </p:nvPr>
        </p:nvSpPr>
        <p:spPr>
          <a:xfrm>
            <a:off x="1928800" y="6500825"/>
            <a:ext cx="5182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196578"/>
            <a:ext cx="9144000" cy="4464844"/>
          </a:xfrm>
          <a:prstGeom prst="rect">
            <a:avLst/>
          </a:prstGeom>
        </p:spPr>
      </p:pic>
    </p:spTree>
    <p:extLst>
      <p:ext uri="{BB962C8B-B14F-4D97-AF65-F5344CB8AC3E}">
        <p14:creationId xmlns:p14="http://schemas.microsoft.com/office/powerpoint/2010/main" val="4116552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1"/>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chemeClr val="lt1"/>
              </a:solidFill>
              <a:latin typeface="Calibri"/>
              <a:ea typeface="Calibri"/>
              <a:cs typeface="Calibri"/>
              <a:sym typeface="Calibri"/>
            </a:endParaRPr>
          </a:p>
        </p:txBody>
      </p:sp>
      <p:sp>
        <p:nvSpPr>
          <p:cNvPr id="361" name="Google Shape;361;p21"/>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64" name="Google Shape;364;p21"/>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15</a:t>
            </a:fld>
            <a:endParaRPr sz="1800" b="1">
              <a:solidFill>
                <a:schemeClr val="lt1"/>
              </a:solidFill>
            </a:endParaRPr>
          </a:p>
        </p:txBody>
      </p:sp>
      <p:sp>
        <p:nvSpPr>
          <p:cNvPr id="365" name="Google Shape;365;p21"/>
          <p:cNvSpPr txBox="1">
            <a:spLocks noGrp="1"/>
          </p:cNvSpPr>
          <p:nvPr>
            <p:ph type="ftr" idx="11"/>
          </p:nvPr>
        </p:nvSpPr>
        <p:spPr>
          <a:xfrm>
            <a:off x="1928800" y="6500825"/>
            <a:ext cx="5182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207293"/>
            <a:ext cx="9144000" cy="4443413"/>
          </a:xfrm>
          <a:prstGeom prst="rect">
            <a:avLst/>
          </a:prstGeom>
        </p:spPr>
      </p:pic>
    </p:spTree>
    <p:extLst>
      <p:ext uri="{BB962C8B-B14F-4D97-AF65-F5344CB8AC3E}">
        <p14:creationId xmlns:p14="http://schemas.microsoft.com/office/powerpoint/2010/main" val="1431170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1"/>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chemeClr val="lt1"/>
              </a:solidFill>
              <a:latin typeface="Calibri"/>
              <a:ea typeface="Calibri"/>
              <a:cs typeface="Calibri"/>
              <a:sym typeface="Calibri"/>
            </a:endParaRPr>
          </a:p>
        </p:txBody>
      </p:sp>
      <p:sp>
        <p:nvSpPr>
          <p:cNvPr id="361" name="Google Shape;361;p21"/>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64" name="Google Shape;364;p21"/>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16</a:t>
            </a:fld>
            <a:endParaRPr sz="1800" b="1">
              <a:solidFill>
                <a:schemeClr val="lt1"/>
              </a:solidFill>
            </a:endParaRPr>
          </a:p>
        </p:txBody>
      </p:sp>
      <p:sp>
        <p:nvSpPr>
          <p:cNvPr id="365" name="Google Shape;365;p21"/>
          <p:cNvSpPr txBox="1">
            <a:spLocks noGrp="1"/>
          </p:cNvSpPr>
          <p:nvPr>
            <p:ph type="ftr" idx="11"/>
          </p:nvPr>
        </p:nvSpPr>
        <p:spPr>
          <a:xfrm>
            <a:off x="1928800" y="6500825"/>
            <a:ext cx="5182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210865"/>
            <a:ext cx="9144000" cy="4436269"/>
          </a:xfrm>
          <a:prstGeom prst="rect">
            <a:avLst/>
          </a:prstGeom>
        </p:spPr>
      </p:pic>
    </p:spTree>
    <p:extLst>
      <p:ext uri="{BB962C8B-B14F-4D97-AF65-F5344CB8AC3E}">
        <p14:creationId xmlns:p14="http://schemas.microsoft.com/office/powerpoint/2010/main" val="1544765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1"/>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chemeClr val="lt1"/>
              </a:solidFill>
              <a:latin typeface="Calibri"/>
              <a:ea typeface="Calibri"/>
              <a:cs typeface="Calibri"/>
              <a:sym typeface="Calibri"/>
            </a:endParaRPr>
          </a:p>
        </p:txBody>
      </p:sp>
      <p:sp>
        <p:nvSpPr>
          <p:cNvPr id="361" name="Google Shape;361;p21"/>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64" name="Google Shape;364;p21"/>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17</a:t>
            </a:fld>
            <a:endParaRPr sz="1800" b="1">
              <a:solidFill>
                <a:schemeClr val="lt1"/>
              </a:solidFill>
            </a:endParaRPr>
          </a:p>
        </p:txBody>
      </p:sp>
      <p:sp>
        <p:nvSpPr>
          <p:cNvPr id="365" name="Google Shape;365;p21"/>
          <p:cNvSpPr txBox="1">
            <a:spLocks noGrp="1"/>
          </p:cNvSpPr>
          <p:nvPr>
            <p:ph type="ftr" idx="11"/>
          </p:nvPr>
        </p:nvSpPr>
        <p:spPr>
          <a:xfrm>
            <a:off x="1928800" y="6500825"/>
            <a:ext cx="5182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pic>
        <p:nvPicPr>
          <p:cNvPr id="2" name="Picture 1"/>
          <p:cNvPicPr>
            <a:picLocks noChangeAspect="1"/>
          </p:cNvPicPr>
          <p:nvPr/>
        </p:nvPicPr>
        <p:blipFill rotWithShape="1">
          <a:blip r:embed="rId4">
            <a:extLst>
              <a:ext uri="{28A0092B-C50C-407E-A947-70E740481C1C}">
                <a14:useLocalDpi xmlns:a14="http://schemas.microsoft.com/office/drawing/2010/main" val="0"/>
              </a:ext>
            </a:extLst>
          </a:blip>
          <a:srcRect l="888" t="11374" r="778" b="5725"/>
          <a:stretch/>
        </p:blipFill>
        <p:spPr>
          <a:xfrm>
            <a:off x="101600" y="1483360"/>
            <a:ext cx="8991600" cy="4267200"/>
          </a:xfrm>
          <a:prstGeom prst="rect">
            <a:avLst/>
          </a:prstGeom>
        </p:spPr>
      </p:pic>
    </p:spTree>
    <p:extLst>
      <p:ext uri="{BB962C8B-B14F-4D97-AF65-F5344CB8AC3E}">
        <p14:creationId xmlns:p14="http://schemas.microsoft.com/office/powerpoint/2010/main" val="2255453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028967CE-7C73-2615-2B46-A1EE6467A907}"/>
            </a:ext>
          </a:extLst>
        </p:cNvPr>
        <p:cNvGrpSpPr/>
        <p:nvPr/>
      </p:nvGrpSpPr>
      <p:grpSpPr>
        <a:xfrm>
          <a:off x="0" y="0"/>
          <a:ext cx="0" cy="0"/>
          <a:chOff x="0" y="0"/>
          <a:chExt cx="0" cy="0"/>
        </a:xfrm>
      </p:grpSpPr>
      <p:sp>
        <p:nvSpPr>
          <p:cNvPr id="360" name="Google Shape;360;p21">
            <a:extLst>
              <a:ext uri="{FF2B5EF4-FFF2-40B4-BE49-F238E27FC236}">
                <a16:creationId xmlns:a16="http://schemas.microsoft.com/office/drawing/2014/main" id="{882E157F-F82D-7E39-8785-354171C5DD37}"/>
              </a:ext>
            </a:extLst>
          </p:cNvPr>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dirty="0">
                <a:solidFill>
                  <a:schemeClr val="lt1"/>
                </a:solidFill>
                <a:latin typeface="Calibri"/>
                <a:ea typeface="Calibri"/>
                <a:cs typeface="Calibri"/>
                <a:sym typeface="Calibri"/>
              </a:rPr>
              <a:t>Student </a:t>
            </a:r>
            <a:r>
              <a:rPr lang="en-US" sz="3600" b="1">
                <a:solidFill>
                  <a:schemeClr val="lt1"/>
                </a:solidFill>
                <a:latin typeface="Calibri"/>
                <a:ea typeface="Calibri"/>
                <a:cs typeface="Calibri"/>
                <a:sym typeface="Calibri"/>
              </a:rPr>
              <a:t>Login page</a:t>
            </a:r>
            <a:endParaRPr sz="3600" b="1" i="0" u="none" strike="noStrike" cap="none" dirty="0">
              <a:solidFill>
                <a:schemeClr val="lt1"/>
              </a:solidFill>
              <a:latin typeface="Calibri"/>
              <a:ea typeface="Calibri"/>
              <a:cs typeface="Calibri"/>
              <a:sym typeface="Calibri"/>
            </a:endParaRPr>
          </a:p>
        </p:txBody>
      </p:sp>
      <p:sp>
        <p:nvSpPr>
          <p:cNvPr id="361" name="Google Shape;361;p21">
            <a:extLst>
              <a:ext uri="{FF2B5EF4-FFF2-40B4-BE49-F238E27FC236}">
                <a16:creationId xmlns:a16="http://schemas.microsoft.com/office/drawing/2014/main" id="{79E0A741-50C1-65BD-BB8D-F3053AB9F8D1}"/>
              </a:ext>
            </a:extLst>
          </p:cNvPr>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a:extLst>
              <a:ext uri="{FF2B5EF4-FFF2-40B4-BE49-F238E27FC236}">
                <a16:creationId xmlns:a16="http://schemas.microsoft.com/office/drawing/2014/main" id="{F0B85B71-F3AB-BE94-8AC3-21BEEBCD121F}"/>
              </a:ext>
            </a:extLst>
          </p:cNvPr>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a:extLst>
              <a:ext uri="{FF2B5EF4-FFF2-40B4-BE49-F238E27FC236}">
                <a16:creationId xmlns:a16="http://schemas.microsoft.com/office/drawing/2014/main" id="{0077CA43-3FAF-7269-86D3-32919E5F512E}"/>
              </a:ext>
            </a:extLst>
          </p:cNvPr>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64" name="Google Shape;364;p21">
            <a:extLst>
              <a:ext uri="{FF2B5EF4-FFF2-40B4-BE49-F238E27FC236}">
                <a16:creationId xmlns:a16="http://schemas.microsoft.com/office/drawing/2014/main" id="{8EF99550-2F45-21C1-8145-E6E2DDA12269}"/>
              </a:ext>
            </a:extLst>
          </p:cNvPr>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18</a:t>
            </a:fld>
            <a:endParaRPr sz="1800" b="1">
              <a:solidFill>
                <a:schemeClr val="lt1"/>
              </a:solidFill>
            </a:endParaRPr>
          </a:p>
        </p:txBody>
      </p:sp>
      <p:sp>
        <p:nvSpPr>
          <p:cNvPr id="365" name="Google Shape;365;p21">
            <a:extLst>
              <a:ext uri="{FF2B5EF4-FFF2-40B4-BE49-F238E27FC236}">
                <a16:creationId xmlns:a16="http://schemas.microsoft.com/office/drawing/2014/main" id="{CD01705C-74A9-FEAF-2A2C-B4E81D659BC4}"/>
              </a:ext>
            </a:extLst>
          </p:cNvPr>
          <p:cNvSpPr txBox="1">
            <a:spLocks noGrp="1"/>
          </p:cNvSpPr>
          <p:nvPr>
            <p:ph type="ftr" idx="11"/>
          </p:nvPr>
        </p:nvSpPr>
        <p:spPr>
          <a:xfrm>
            <a:off x="1928800" y="6500825"/>
            <a:ext cx="5182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pic>
        <p:nvPicPr>
          <p:cNvPr id="3" name="Picture 2">
            <a:extLst>
              <a:ext uri="{FF2B5EF4-FFF2-40B4-BE49-F238E27FC236}">
                <a16:creationId xmlns:a16="http://schemas.microsoft.com/office/drawing/2014/main" id="{BE5030E3-FE74-DFEE-D61B-D802AE74AA2F}"/>
              </a:ext>
            </a:extLst>
          </p:cNvPr>
          <p:cNvPicPr>
            <a:picLocks noChangeAspect="1"/>
          </p:cNvPicPr>
          <p:nvPr/>
        </p:nvPicPr>
        <p:blipFill>
          <a:blip r:embed="rId4"/>
          <a:stretch>
            <a:fillRect/>
          </a:stretch>
        </p:blipFill>
        <p:spPr>
          <a:xfrm>
            <a:off x="0" y="1176381"/>
            <a:ext cx="9144000" cy="4505237"/>
          </a:xfrm>
          <a:prstGeom prst="rect">
            <a:avLst/>
          </a:prstGeom>
        </p:spPr>
      </p:pic>
    </p:spTree>
    <p:extLst>
      <p:ext uri="{BB962C8B-B14F-4D97-AF65-F5344CB8AC3E}">
        <p14:creationId xmlns:p14="http://schemas.microsoft.com/office/powerpoint/2010/main" val="2869018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6FC9D751-ACB1-ADA1-3D9D-0B6FC3E5D16A}"/>
            </a:ext>
          </a:extLst>
        </p:cNvPr>
        <p:cNvGrpSpPr/>
        <p:nvPr/>
      </p:nvGrpSpPr>
      <p:grpSpPr>
        <a:xfrm>
          <a:off x="0" y="0"/>
          <a:ext cx="0" cy="0"/>
          <a:chOff x="0" y="0"/>
          <a:chExt cx="0" cy="0"/>
        </a:xfrm>
      </p:grpSpPr>
      <p:sp>
        <p:nvSpPr>
          <p:cNvPr id="360" name="Google Shape;360;p21">
            <a:extLst>
              <a:ext uri="{FF2B5EF4-FFF2-40B4-BE49-F238E27FC236}">
                <a16:creationId xmlns:a16="http://schemas.microsoft.com/office/drawing/2014/main" id="{27617226-78C3-BA1F-E402-DC948E55B27C}"/>
              </a:ext>
            </a:extLst>
          </p:cNvPr>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chemeClr val="lt1"/>
              </a:solidFill>
              <a:latin typeface="Calibri"/>
              <a:ea typeface="Calibri"/>
              <a:cs typeface="Calibri"/>
              <a:sym typeface="Calibri"/>
            </a:endParaRPr>
          </a:p>
        </p:txBody>
      </p:sp>
      <p:sp>
        <p:nvSpPr>
          <p:cNvPr id="361" name="Google Shape;361;p21">
            <a:extLst>
              <a:ext uri="{FF2B5EF4-FFF2-40B4-BE49-F238E27FC236}">
                <a16:creationId xmlns:a16="http://schemas.microsoft.com/office/drawing/2014/main" id="{93AACFC5-A0A1-0CDE-3D19-257FB71AC687}"/>
              </a:ext>
            </a:extLst>
          </p:cNvPr>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a:extLst>
              <a:ext uri="{FF2B5EF4-FFF2-40B4-BE49-F238E27FC236}">
                <a16:creationId xmlns:a16="http://schemas.microsoft.com/office/drawing/2014/main" id="{B98E6B42-1DCD-8B15-ACD8-E2B5D6612889}"/>
              </a:ext>
            </a:extLst>
          </p:cNvPr>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a:extLst>
              <a:ext uri="{FF2B5EF4-FFF2-40B4-BE49-F238E27FC236}">
                <a16:creationId xmlns:a16="http://schemas.microsoft.com/office/drawing/2014/main" id="{F755BE54-590B-9248-4F75-D170856665AF}"/>
              </a:ext>
            </a:extLst>
          </p:cNvPr>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64" name="Google Shape;364;p21">
            <a:extLst>
              <a:ext uri="{FF2B5EF4-FFF2-40B4-BE49-F238E27FC236}">
                <a16:creationId xmlns:a16="http://schemas.microsoft.com/office/drawing/2014/main" id="{E140B8F6-90D0-B1E6-CCEB-E342BCF5D7E9}"/>
              </a:ext>
            </a:extLst>
          </p:cNvPr>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19</a:t>
            </a:fld>
            <a:endParaRPr sz="1800" b="1">
              <a:solidFill>
                <a:schemeClr val="lt1"/>
              </a:solidFill>
            </a:endParaRPr>
          </a:p>
        </p:txBody>
      </p:sp>
      <p:sp>
        <p:nvSpPr>
          <p:cNvPr id="365" name="Google Shape;365;p21">
            <a:extLst>
              <a:ext uri="{FF2B5EF4-FFF2-40B4-BE49-F238E27FC236}">
                <a16:creationId xmlns:a16="http://schemas.microsoft.com/office/drawing/2014/main" id="{108F081F-1A2C-5A69-9934-62E46CF3C391}"/>
              </a:ext>
            </a:extLst>
          </p:cNvPr>
          <p:cNvSpPr txBox="1">
            <a:spLocks noGrp="1"/>
          </p:cNvSpPr>
          <p:nvPr>
            <p:ph type="ftr" idx="11"/>
          </p:nvPr>
        </p:nvSpPr>
        <p:spPr>
          <a:xfrm>
            <a:off x="1928800" y="6500825"/>
            <a:ext cx="5182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pic>
        <p:nvPicPr>
          <p:cNvPr id="3" name="Picture 2">
            <a:extLst>
              <a:ext uri="{FF2B5EF4-FFF2-40B4-BE49-F238E27FC236}">
                <a16:creationId xmlns:a16="http://schemas.microsoft.com/office/drawing/2014/main" id="{C44FE7D7-0475-C3D7-96AC-C7BF122735AE}"/>
              </a:ext>
            </a:extLst>
          </p:cNvPr>
          <p:cNvPicPr>
            <a:picLocks noChangeAspect="1"/>
          </p:cNvPicPr>
          <p:nvPr/>
        </p:nvPicPr>
        <p:blipFill>
          <a:blip r:embed="rId4"/>
          <a:stretch>
            <a:fillRect/>
          </a:stretch>
        </p:blipFill>
        <p:spPr>
          <a:xfrm>
            <a:off x="0" y="1278620"/>
            <a:ext cx="9144000" cy="4300759"/>
          </a:xfrm>
          <a:prstGeom prst="rect">
            <a:avLst/>
          </a:prstGeom>
        </p:spPr>
      </p:pic>
    </p:spTree>
    <p:extLst>
      <p:ext uri="{BB962C8B-B14F-4D97-AF65-F5344CB8AC3E}">
        <p14:creationId xmlns:p14="http://schemas.microsoft.com/office/powerpoint/2010/main" val="2237679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B6FEBD13-29C0-2184-76C5-E5D56F37877E}"/>
            </a:ext>
          </a:extLst>
        </p:cNvPr>
        <p:cNvGrpSpPr/>
        <p:nvPr/>
      </p:nvGrpSpPr>
      <p:grpSpPr>
        <a:xfrm>
          <a:off x="0" y="0"/>
          <a:ext cx="0" cy="0"/>
          <a:chOff x="0" y="0"/>
          <a:chExt cx="0" cy="0"/>
        </a:xfrm>
      </p:grpSpPr>
      <p:sp>
        <p:nvSpPr>
          <p:cNvPr id="360" name="Google Shape;360;p21">
            <a:extLst>
              <a:ext uri="{FF2B5EF4-FFF2-40B4-BE49-F238E27FC236}">
                <a16:creationId xmlns:a16="http://schemas.microsoft.com/office/drawing/2014/main" id="{43285732-1D8F-25D9-3633-04F21FB21E09}"/>
              </a:ext>
            </a:extLst>
          </p:cNvPr>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chemeClr val="lt1"/>
              </a:solidFill>
              <a:latin typeface="Calibri"/>
              <a:ea typeface="Calibri"/>
              <a:cs typeface="Calibri"/>
              <a:sym typeface="Calibri"/>
            </a:endParaRPr>
          </a:p>
        </p:txBody>
      </p:sp>
      <p:sp>
        <p:nvSpPr>
          <p:cNvPr id="361" name="Google Shape;361;p21">
            <a:extLst>
              <a:ext uri="{FF2B5EF4-FFF2-40B4-BE49-F238E27FC236}">
                <a16:creationId xmlns:a16="http://schemas.microsoft.com/office/drawing/2014/main" id="{7E68F145-DBF4-A4C1-D8FE-86371ECB391D}"/>
              </a:ext>
            </a:extLst>
          </p:cNvPr>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a:extLst>
              <a:ext uri="{FF2B5EF4-FFF2-40B4-BE49-F238E27FC236}">
                <a16:creationId xmlns:a16="http://schemas.microsoft.com/office/drawing/2014/main" id="{3187F226-85FA-D9DA-E9B3-CA4F47C755FC}"/>
              </a:ext>
            </a:extLst>
          </p:cNvPr>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a:extLst>
              <a:ext uri="{FF2B5EF4-FFF2-40B4-BE49-F238E27FC236}">
                <a16:creationId xmlns:a16="http://schemas.microsoft.com/office/drawing/2014/main" id="{E7CB8E3B-130C-1551-77B0-992B2E7353F6}"/>
              </a:ext>
            </a:extLst>
          </p:cNvPr>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64" name="Google Shape;364;p21">
            <a:extLst>
              <a:ext uri="{FF2B5EF4-FFF2-40B4-BE49-F238E27FC236}">
                <a16:creationId xmlns:a16="http://schemas.microsoft.com/office/drawing/2014/main" id="{B8D99C3F-7122-F002-D39A-19DA0E4863AB}"/>
              </a:ext>
            </a:extLst>
          </p:cNvPr>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20</a:t>
            </a:fld>
            <a:endParaRPr sz="1800" b="1">
              <a:solidFill>
                <a:schemeClr val="lt1"/>
              </a:solidFill>
            </a:endParaRPr>
          </a:p>
        </p:txBody>
      </p:sp>
      <p:sp>
        <p:nvSpPr>
          <p:cNvPr id="365" name="Google Shape;365;p21">
            <a:extLst>
              <a:ext uri="{FF2B5EF4-FFF2-40B4-BE49-F238E27FC236}">
                <a16:creationId xmlns:a16="http://schemas.microsoft.com/office/drawing/2014/main" id="{23CCFA73-8C8A-F50A-7754-5B98BE8B6F52}"/>
              </a:ext>
            </a:extLst>
          </p:cNvPr>
          <p:cNvSpPr txBox="1">
            <a:spLocks noGrp="1"/>
          </p:cNvSpPr>
          <p:nvPr>
            <p:ph type="ftr" idx="11"/>
          </p:nvPr>
        </p:nvSpPr>
        <p:spPr>
          <a:xfrm>
            <a:off x="1928800" y="6500825"/>
            <a:ext cx="5182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pic>
        <p:nvPicPr>
          <p:cNvPr id="3" name="Picture 2">
            <a:extLst>
              <a:ext uri="{FF2B5EF4-FFF2-40B4-BE49-F238E27FC236}">
                <a16:creationId xmlns:a16="http://schemas.microsoft.com/office/drawing/2014/main" id="{5795B42E-8586-AB1F-4F67-EB07AF15F4D4}"/>
              </a:ext>
            </a:extLst>
          </p:cNvPr>
          <p:cNvPicPr>
            <a:picLocks noChangeAspect="1"/>
          </p:cNvPicPr>
          <p:nvPr/>
        </p:nvPicPr>
        <p:blipFill>
          <a:blip r:embed="rId4"/>
          <a:stretch>
            <a:fillRect/>
          </a:stretch>
        </p:blipFill>
        <p:spPr>
          <a:xfrm>
            <a:off x="0" y="1216977"/>
            <a:ext cx="9144000" cy="4424046"/>
          </a:xfrm>
          <a:prstGeom prst="rect">
            <a:avLst/>
          </a:prstGeom>
        </p:spPr>
      </p:pic>
    </p:spTree>
    <p:extLst>
      <p:ext uri="{BB962C8B-B14F-4D97-AF65-F5344CB8AC3E}">
        <p14:creationId xmlns:p14="http://schemas.microsoft.com/office/powerpoint/2010/main" val="2167770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DB0E1FD0-0A03-0EB7-7FF5-F0BCBD82EB66}"/>
            </a:ext>
          </a:extLst>
        </p:cNvPr>
        <p:cNvGrpSpPr/>
        <p:nvPr/>
      </p:nvGrpSpPr>
      <p:grpSpPr>
        <a:xfrm>
          <a:off x="0" y="0"/>
          <a:ext cx="0" cy="0"/>
          <a:chOff x="0" y="0"/>
          <a:chExt cx="0" cy="0"/>
        </a:xfrm>
      </p:grpSpPr>
      <p:sp>
        <p:nvSpPr>
          <p:cNvPr id="360" name="Google Shape;360;p21">
            <a:extLst>
              <a:ext uri="{FF2B5EF4-FFF2-40B4-BE49-F238E27FC236}">
                <a16:creationId xmlns:a16="http://schemas.microsoft.com/office/drawing/2014/main" id="{D6EF6E52-29AA-0514-ED13-486624ECA7A9}"/>
              </a:ext>
            </a:extLst>
          </p:cNvPr>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chemeClr val="lt1"/>
              </a:solidFill>
              <a:latin typeface="Calibri"/>
              <a:ea typeface="Calibri"/>
              <a:cs typeface="Calibri"/>
              <a:sym typeface="Calibri"/>
            </a:endParaRPr>
          </a:p>
        </p:txBody>
      </p:sp>
      <p:sp>
        <p:nvSpPr>
          <p:cNvPr id="361" name="Google Shape;361;p21">
            <a:extLst>
              <a:ext uri="{FF2B5EF4-FFF2-40B4-BE49-F238E27FC236}">
                <a16:creationId xmlns:a16="http://schemas.microsoft.com/office/drawing/2014/main" id="{60A073F8-FFDD-EFF1-EC82-01AB02650037}"/>
              </a:ext>
            </a:extLst>
          </p:cNvPr>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a:extLst>
              <a:ext uri="{FF2B5EF4-FFF2-40B4-BE49-F238E27FC236}">
                <a16:creationId xmlns:a16="http://schemas.microsoft.com/office/drawing/2014/main" id="{A882D090-A294-31F3-4E4A-60643E0F3CCB}"/>
              </a:ext>
            </a:extLst>
          </p:cNvPr>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a:extLst>
              <a:ext uri="{FF2B5EF4-FFF2-40B4-BE49-F238E27FC236}">
                <a16:creationId xmlns:a16="http://schemas.microsoft.com/office/drawing/2014/main" id="{480DA641-9B62-3844-3D3B-F5BB5DA02E70}"/>
              </a:ext>
            </a:extLst>
          </p:cNvPr>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64" name="Google Shape;364;p21">
            <a:extLst>
              <a:ext uri="{FF2B5EF4-FFF2-40B4-BE49-F238E27FC236}">
                <a16:creationId xmlns:a16="http://schemas.microsoft.com/office/drawing/2014/main" id="{EAD7AD21-B828-47ED-AB9C-4F3C72EC2DC1}"/>
              </a:ext>
            </a:extLst>
          </p:cNvPr>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21</a:t>
            </a:fld>
            <a:endParaRPr sz="1800" b="1">
              <a:solidFill>
                <a:schemeClr val="lt1"/>
              </a:solidFill>
            </a:endParaRPr>
          </a:p>
        </p:txBody>
      </p:sp>
      <p:sp>
        <p:nvSpPr>
          <p:cNvPr id="365" name="Google Shape;365;p21">
            <a:extLst>
              <a:ext uri="{FF2B5EF4-FFF2-40B4-BE49-F238E27FC236}">
                <a16:creationId xmlns:a16="http://schemas.microsoft.com/office/drawing/2014/main" id="{0247A7A0-6023-9C72-25CA-4E118282A9C5}"/>
              </a:ext>
            </a:extLst>
          </p:cNvPr>
          <p:cNvSpPr txBox="1">
            <a:spLocks noGrp="1"/>
          </p:cNvSpPr>
          <p:nvPr>
            <p:ph type="ftr" idx="11"/>
          </p:nvPr>
        </p:nvSpPr>
        <p:spPr>
          <a:xfrm>
            <a:off x="1928800" y="6500825"/>
            <a:ext cx="5182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pic>
        <p:nvPicPr>
          <p:cNvPr id="3" name="Picture 2">
            <a:extLst>
              <a:ext uri="{FF2B5EF4-FFF2-40B4-BE49-F238E27FC236}">
                <a16:creationId xmlns:a16="http://schemas.microsoft.com/office/drawing/2014/main" id="{81B1D6AC-3F52-5099-BFF5-B22F581EC7E8}"/>
              </a:ext>
            </a:extLst>
          </p:cNvPr>
          <p:cNvPicPr>
            <a:picLocks noChangeAspect="1"/>
          </p:cNvPicPr>
          <p:nvPr/>
        </p:nvPicPr>
        <p:blipFill>
          <a:blip r:embed="rId4"/>
          <a:stretch>
            <a:fillRect/>
          </a:stretch>
        </p:blipFill>
        <p:spPr>
          <a:xfrm>
            <a:off x="0" y="1247524"/>
            <a:ext cx="9144000" cy="4362952"/>
          </a:xfrm>
          <a:prstGeom prst="rect">
            <a:avLst/>
          </a:prstGeom>
        </p:spPr>
      </p:pic>
    </p:spTree>
    <p:extLst>
      <p:ext uri="{BB962C8B-B14F-4D97-AF65-F5344CB8AC3E}">
        <p14:creationId xmlns:p14="http://schemas.microsoft.com/office/powerpoint/2010/main" val="2919325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936CA0CA-140B-3923-65A2-1A549308D0EB}"/>
            </a:ext>
          </a:extLst>
        </p:cNvPr>
        <p:cNvGrpSpPr/>
        <p:nvPr/>
      </p:nvGrpSpPr>
      <p:grpSpPr>
        <a:xfrm>
          <a:off x="0" y="0"/>
          <a:ext cx="0" cy="0"/>
          <a:chOff x="0" y="0"/>
          <a:chExt cx="0" cy="0"/>
        </a:xfrm>
      </p:grpSpPr>
      <p:sp>
        <p:nvSpPr>
          <p:cNvPr id="360" name="Google Shape;360;p21">
            <a:extLst>
              <a:ext uri="{FF2B5EF4-FFF2-40B4-BE49-F238E27FC236}">
                <a16:creationId xmlns:a16="http://schemas.microsoft.com/office/drawing/2014/main" id="{C937FC7B-581F-2BC8-6F06-F5087FEB463A}"/>
              </a:ext>
            </a:extLst>
          </p:cNvPr>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dirty="0">
                <a:solidFill>
                  <a:schemeClr val="lt1"/>
                </a:solidFill>
                <a:latin typeface="Calibri"/>
                <a:ea typeface="Calibri"/>
                <a:cs typeface="Calibri"/>
                <a:sym typeface="Calibri"/>
              </a:rPr>
              <a:t>Faculty Login</a:t>
            </a:r>
            <a:endParaRPr sz="3600" b="1" i="0" u="none" strike="noStrike" cap="none" dirty="0">
              <a:solidFill>
                <a:schemeClr val="lt1"/>
              </a:solidFill>
              <a:latin typeface="Calibri"/>
              <a:ea typeface="Calibri"/>
              <a:cs typeface="Calibri"/>
              <a:sym typeface="Calibri"/>
            </a:endParaRPr>
          </a:p>
        </p:txBody>
      </p:sp>
      <p:sp>
        <p:nvSpPr>
          <p:cNvPr id="361" name="Google Shape;361;p21">
            <a:extLst>
              <a:ext uri="{FF2B5EF4-FFF2-40B4-BE49-F238E27FC236}">
                <a16:creationId xmlns:a16="http://schemas.microsoft.com/office/drawing/2014/main" id="{CEBA588D-A3BC-4F41-F3F4-18ABFFC847FB}"/>
              </a:ext>
            </a:extLst>
          </p:cNvPr>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a:extLst>
              <a:ext uri="{FF2B5EF4-FFF2-40B4-BE49-F238E27FC236}">
                <a16:creationId xmlns:a16="http://schemas.microsoft.com/office/drawing/2014/main" id="{FC7EE38C-AD31-171D-920F-634625ACC2B0}"/>
              </a:ext>
            </a:extLst>
          </p:cNvPr>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a:extLst>
              <a:ext uri="{FF2B5EF4-FFF2-40B4-BE49-F238E27FC236}">
                <a16:creationId xmlns:a16="http://schemas.microsoft.com/office/drawing/2014/main" id="{5937E0FF-3E32-B49E-0BE0-AD692266FFC0}"/>
              </a:ext>
            </a:extLst>
          </p:cNvPr>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64" name="Google Shape;364;p21">
            <a:extLst>
              <a:ext uri="{FF2B5EF4-FFF2-40B4-BE49-F238E27FC236}">
                <a16:creationId xmlns:a16="http://schemas.microsoft.com/office/drawing/2014/main" id="{57E66AE4-F8F3-297A-3979-63DA9A8F1A46}"/>
              </a:ext>
            </a:extLst>
          </p:cNvPr>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22</a:t>
            </a:fld>
            <a:endParaRPr sz="1800" b="1">
              <a:solidFill>
                <a:schemeClr val="lt1"/>
              </a:solidFill>
            </a:endParaRPr>
          </a:p>
        </p:txBody>
      </p:sp>
      <p:sp>
        <p:nvSpPr>
          <p:cNvPr id="365" name="Google Shape;365;p21">
            <a:extLst>
              <a:ext uri="{FF2B5EF4-FFF2-40B4-BE49-F238E27FC236}">
                <a16:creationId xmlns:a16="http://schemas.microsoft.com/office/drawing/2014/main" id="{E0720E36-1E13-1EA3-BE0B-37E61CE55300}"/>
              </a:ext>
            </a:extLst>
          </p:cNvPr>
          <p:cNvSpPr txBox="1">
            <a:spLocks noGrp="1"/>
          </p:cNvSpPr>
          <p:nvPr>
            <p:ph type="ftr" idx="11"/>
          </p:nvPr>
        </p:nvSpPr>
        <p:spPr>
          <a:xfrm>
            <a:off x="1928800" y="6500825"/>
            <a:ext cx="5182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pic>
        <p:nvPicPr>
          <p:cNvPr id="3" name="Picture 2">
            <a:extLst>
              <a:ext uri="{FF2B5EF4-FFF2-40B4-BE49-F238E27FC236}">
                <a16:creationId xmlns:a16="http://schemas.microsoft.com/office/drawing/2014/main" id="{29A66EE6-F59C-AB11-B991-200A2CCCA7D9}"/>
              </a:ext>
            </a:extLst>
          </p:cNvPr>
          <p:cNvPicPr>
            <a:picLocks noChangeAspect="1"/>
          </p:cNvPicPr>
          <p:nvPr/>
        </p:nvPicPr>
        <p:blipFill>
          <a:blip r:embed="rId4"/>
          <a:stretch>
            <a:fillRect/>
          </a:stretch>
        </p:blipFill>
        <p:spPr>
          <a:xfrm>
            <a:off x="0" y="1267159"/>
            <a:ext cx="9144000" cy="4323681"/>
          </a:xfrm>
          <a:prstGeom prst="rect">
            <a:avLst/>
          </a:prstGeom>
        </p:spPr>
      </p:pic>
    </p:spTree>
    <p:extLst>
      <p:ext uri="{BB962C8B-B14F-4D97-AF65-F5344CB8AC3E}">
        <p14:creationId xmlns:p14="http://schemas.microsoft.com/office/powerpoint/2010/main" val="2104747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1"/>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chemeClr val="lt1"/>
              </a:solidFill>
              <a:latin typeface="Calibri"/>
              <a:ea typeface="Calibri"/>
              <a:cs typeface="Calibri"/>
              <a:sym typeface="Calibri"/>
            </a:endParaRPr>
          </a:p>
        </p:txBody>
      </p:sp>
      <p:sp>
        <p:nvSpPr>
          <p:cNvPr id="361" name="Google Shape;361;p21"/>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01/09/2025</a:t>
            </a:r>
            <a:endParaRPr dirty="0"/>
          </a:p>
        </p:txBody>
      </p:sp>
      <p:sp>
        <p:nvSpPr>
          <p:cNvPr id="364" name="Google Shape;364;p21"/>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23</a:t>
            </a:fld>
            <a:endParaRPr sz="1800" b="1">
              <a:solidFill>
                <a:schemeClr val="lt1"/>
              </a:solidFill>
            </a:endParaRPr>
          </a:p>
        </p:txBody>
      </p:sp>
      <p:sp>
        <p:nvSpPr>
          <p:cNvPr id="365" name="Google Shape;365;p21"/>
          <p:cNvSpPr txBox="1">
            <a:spLocks noGrp="1"/>
          </p:cNvSpPr>
          <p:nvPr>
            <p:ph type="ftr" idx="11"/>
          </p:nvPr>
        </p:nvSpPr>
        <p:spPr>
          <a:xfrm>
            <a:off x="1928800" y="6500825"/>
            <a:ext cx="51822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chemeClr val="lt1"/>
                </a:solidFill>
              </a:rPr>
              <a:t>     Department of Computer Science &amp; Engineering</a:t>
            </a:r>
            <a:endParaRPr sz="1800" b="1">
              <a:solidFill>
                <a:schemeClr val="lt1"/>
              </a:solidFill>
            </a:endParaRPr>
          </a:p>
        </p:txBody>
      </p:sp>
      <p:sp>
        <p:nvSpPr>
          <p:cNvPr id="366" name="Google Shape;366;p21"/>
          <p:cNvSpPr txBox="1"/>
          <p:nvPr/>
        </p:nvSpPr>
        <p:spPr>
          <a:xfrm>
            <a:off x="2581244" y="2362200"/>
            <a:ext cx="4352956" cy="11079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600" b="1" i="0" u="none" strike="noStrike" cap="none" dirty="0">
                <a:solidFill>
                  <a:schemeClr val="dk1"/>
                </a:solidFill>
                <a:latin typeface="Times New Roman"/>
                <a:ea typeface="Times New Roman"/>
                <a:cs typeface="Times New Roman"/>
                <a:sym typeface="Times New Roman"/>
              </a:rPr>
              <a:t>Thank You</a:t>
            </a:r>
            <a:endParaRPr sz="66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287</TotalTime>
  <Words>1026</Words>
  <Application>Microsoft Office PowerPoint</Application>
  <PresentationFormat>On-screen Show (4:3)</PresentationFormat>
  <Paragraphs>190</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Noto Sans Symbols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mohan surya</cp:lastModifiedBy>
  <cp:revision>20</cp:revision>
  <dcterms:modified xsi:type="dcterms:W3CDTF">2025-09-11T16:08:59Z</dcterms:modified>
</cp:coreProperties>
</file>